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</p:sldIdLst>
  <p:sldSz cy="6858000" cx="12192000"/>
  <p:notesSz cx="6858000" cy="9144000"/>
  <p:embeddedFontLst>
    <p:embeddedFont>
      <p:font typeface="Gill Sans"/>
      <p:regular r:id="rId25"/>
      <p:bold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GillSans-bold.fntdata"/><Relationship Id="rId25" Type="http://schemas.openxmlformats.org/officeDocument/2006/relationships/font" Target="fonts/GillSans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0" name="Google Shape;130;p6:notes"/>
          <p:cNvSpPr/>
          <p:nvPr>
            <p:ph idx="2" type="sldImg"/>
          </p:nvPr>
        </p:nvSpPr>
        <p:spPr>
          <a:xfrm>
            <a:off x="1144588" y="687388"/>
            <a:ext cx="4568825" cy="34258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31" name="Google Shape;131;p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0" name="Google Shape;140;p7:notes"/>
          <p:cNvSpPr/>
          <p:nvPr>
            <p:ph idx="2" type="sldImg"/>
          </p:nvPr>
        </p:nvSpPr>
        <p:spPr>
          <a:xfrm>
            <a:off x="1144588" y="687388"/>
            <a:ext cx="4568825" cy="34258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41" name="Google Shape;141;p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4" name="Google Shape;154;p9:notes"/>
          <p:cNvSpPr/>
          <p:nvPr>
            <p:ph idx="2" type="sldImg"/>
          </p:nvPr>
        </p:nvSpPr>
        <p:spPr>
          <a:xfrm>
            <a:off x="384175" y="687388"/>
            <a:ext cx="6089650" cy="34258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55" name="Google Shape;155;p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2" name="Google Shape;162;p10:notes"/>
          <p:cNvSpPr/>
          <p:nvPr>
            <p:ph idx="2" type="sldImg"/>
          </p:nvPr>
        </p:nvSpPr>
        <p:spPr>
          <a:xfrm>
            <a:off x="384175" y="687388"/>
            <a:ext cx="6089650" cy="34258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63" name="Google Shape;163;p1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9" name="Google Shape;169;p11:notes"/>
          <p:cNvSpPr/>
          <p:nvPr>
            <p:ph idx="2" type="sldImg"/>
          </p:nvPr>
        </p:nvSpPr>
        <p:spPr>
          <a:xfrm>
            <a:off x="384175" y="687388"/>
            <a:ext cx="6089650" cy="34258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70" name="Google Shape;170;p1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6" name="Google Shape;176;p12:notes"/>
          <p:cNvSpPr/>
          <p:nvPr>
            <p:ph idx="2" type="sldImg"/>
          </p:nvPr>
        </p:nvSpPr>
        <p:spPr>
          <a:xfrm>
            <a:off x="384175" y="687388"/>
            <a:ext cx="6089650" cy="34258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77" name="Google Shape;177;p1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2"/>
          <p:cNvSpPr txBox="1"/>
          <p:nvPr>
            <p:ph type="ctrTitle"/>
          </p:nvPr>
        </p:nvSpPr>
        <p:spPr>
          <a:xfrm>
            <a:off x="581191" y="1020431"/>
            <a:ext cx="10993549" cy="14750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Gill Sans"/>
              <a:buNone/>
              <a:defRPr sz="3600">
                <a:solidFill>
                  <a:schemeClr val="accen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"/>
          <p:cNvSpPr txBox="1"/>
          <p:nvPr>
            <p:ph idx="1" type="subTitle"/>
          </p:nvPr>
        </p:nvSpPr>
        <p:spPr>
          <a:xfrm>
            <a:off x="581194" y="2495445"/>
            <a:ext cx="10993546" cy="5903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320"/>
              </a:spcBef>
              <a:spcAft>
                <a:spcPts val="0"/>
              </a:spcAft>
              <a:buSzPts val="1472"/>
              <a:buNone/>
              <a:defRPr sz="1600" cap="none">
                <a:solidFill>
                  <a:schemeClr val="accent2"/>
                </a:solidFill>
              </a:defRPr>
            </a:lvl1pPr>
            <a:lvl2pPr lvl="1" algn="ctr">
              <a:spcBef>
                <a:spcPts val="600"/>
              </a:spcBef>
              <a:spcAft>
                <a:spcPts val="0"/>
              </a:spcAft>
              <a:buSzPts val="1472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600"/>
              </a:spcBef>
              <a:spcAft>
                <a:spcPts val="0"/>
              </a:spcAft>
              <a:buSzPts val="1288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600"/>
              </a:spcBef>
              <a:spcAft>
                <a:spcPts val="600"/>
              </a:spcAft>
              <a:buSzPts val="1104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2"/>
          <p:cNvSpPr txBox="1"/>
          <p:nvPr>
            <p:ph idx="10" type="dt"/>
          </p:nvPr>
        </p:nvSpPr>
        <p:spPr>
          <a:xfrm>
            <a:off x="7605951" y="5956137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6C8089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"/>
          <p:cNvSpPr txBox="1"/>
          <p:nvPr>
            <p:ph idx="11" type="ftr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6C8089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"/>
          <p:cNvSpPr txBox="1"/>
          <p:nvPr>
            <p:ph idx="12" type="sldNum"/>
          </p:nvPr>
        </p:nvSpPr>
        <p:spPr>
          <a:xfrm>
            <a:off x="10558300" y="5956137"/>
            <a:ext cx="101644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6C8089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6C8089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6C8089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6C8089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6C8089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6C8089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6C8089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6C8089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6C8089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3"/>
          <p:cNvSpPr/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3"/>
          <p:cNvSpPr txBox="1"/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3"/>
          <p:cNvSpPr txBox="1"/>
          <p:nvPr>
            <p:ph idx="1" type="body"/>
          </p:nvPr>
        </p:nvSpPr>
        <p:spPr>
          <a:xfrm>
            <a:off x="581192" y="2180496"/>
            <a:ext cx="11029615" cy="36783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33756" lvl="0" marL="457200" algn="l"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indent="-333756" lvl="1" marL="914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indent="-333756" lvl="2" marL="13716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indent="-333756" lvl="3" marL="18288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indent="-333756" lvl="4" marL="22860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indent="-333756" lvl="5" marL="27432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indent="-333756" lvl="6" marL="3200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indent="-333756" lvl="7" marL="36576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indent="-333756" lvl="8" marL="4114800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29" name="Google Shape;29;p3"/>
          <p:cNvSpPr txBox="1"/>
          <p:nvPr>
            <p:ph idx="10" type="dt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3"/>
          <p:cNvSpPr txBox="1"/>
          <p:nvPr>
            <p:ph idx="11" type="ftr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"/>
          <p:cNvSpPr txBox="1"/>
          <p:nvPr>
            <p:ph idx="12" type="sldNum"/>
          </p:nvPr>
        </p:nvSpPr>
        <p:spPr>
          <a:xfrm>
            <a:off x="10558300" y="5956137"/>
            <a:ext cx="105250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/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4"/>
          <p:cNvSpPr txBox="1"/>
          <p:nvPr>
            <p:ph type="title"/>
          </p:nvPr>
        </p:nvSpPr>
        <p:spPr>
          <a:xfrm>
            <a:off x="575894" y="729658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10" type="dt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1" type="ftr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2" type="sldNum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/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5"/>
          <p:cNvSpPr txBox="1"/>
          <p:nvPr>
            <p:ph type="title"/>
          </p:nvPr>
        </p:nvSpPr>
        <p:spPr>
          <a:xfrm>
            <a:off x="581193" y="3043910"/>
            <a:ext cx="11029615" cy="149750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Gill Sans"/>
              <a:buNone/>
              <a:defRPr b="0" sz="3600" cap="none">
                <a:solidFill>
                  <a:schemeClr val="accen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1" type="body"/>
          </p:nvPr>
        </p:nvSpPr>
        <p:spPr>
          <a:xfrm>
            <a:off x="581192" y="4541417"/>
            <a:ext cx="11029615" cy="6005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60"/>
              </a:spcBef>
              <a:spcAft>
                <a:spcPts val="0"/>
              </a:spcAft>
              <a:buSzPts val="1656"/>
              <a:buNone/>
              <a:defRPr sz="1800" cap="none">
                <a:solidFill>
                  <a:schemeClr val="accent2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656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472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2" name="Google Shape;42;p5"/>
          <p:cNvSpPr txBox="1"/>
          <p:nvPr>
            <p:ph idx="10" type="dt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6C8089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11" type="ftr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6C8089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5"/>
          <p:cNvSpPr txBox="1"/>
          <p:nvPr>
            <p:ph idx="12" type="sldNum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900">
                <a:solidFill>
                  <a:srgbClr val="6C8089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algn="r">
              <a:spcBef>
                <a:spcPts val="0"/>
              </a:spcBef>
              <a:buNone/>
              <a:defRPr sz="900">
                <a:solidFill>
                  <a:srgbClr val="6C8089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algn="r">
              <a:spcBef>
                <a:spcPts val="0"/>
              </a:spcBef>
              <a:buNone/>
              <a:defRPr sz="900">
                <a:solidFill>
                  <a:srgbClr val="6C8089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algn="r">
              <a:spcBef>
                <a:spcPts val="0"/>
              </a:spcBef>
              <a:buNone/>
              <a:defRPr sz="900">
                <a:solidFill>
                  <a:srgbClr val="6C8089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algn="r">
              <a:spcBef>
                <a:spcPts val="0"/>
              </a:spcBef>
              <a:buNone/>
              <a:defRPr sz="900">
                <a:solidFill>
                  <a:srgbClr val="6C8089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algn="r">
              <a:spcBef>
                <a:spcPts val="0"/>
              </a:spcBef>
              <a:buNone/>
              <a:defRPr sz="900">
                <a:solidFill>
                  <a:srgbClr val="6C8089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algn="r">
              <a:spcBef>
                <a:spcPts val="0"/>
              </a:spcBef>
              <a:buNone/>
              <a:defRPr sz="900">
                <a:solidFill>
                  <a:srgbClr val="6C8089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algn="r">
              <a:spcBef>
                <a:spcPts val="0"/>
              </a:spcBef>
              <a:buNone/>
              <a:defRPr sz="900">
                <a:solidFill>
                  <a:srgbClr val="6C8089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algn="r">
              <a:spcBef>
                <a:spcPts val="0"/>
              </a:spcBef>
              <a:buNone/>
              <a:defRPr sz="900">
                <a:solidFill>
                  <a:srgbClr val="6C8089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"/>
          <p:cNvSpPr/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6"/>
          <p:cNvSpPr txBox="1"/>
          <p:nvPr>
            <p:ph type="title"/>
          </p:nvPr>
        </p:nvSpPr>
        <p:spPr>
          <a:xfrm>
            <a:off x="581193" y="729658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1" type="body"/>
          </p:nvPr>
        </p:nvSpPr>
        <p:spPr>
          <a:xfrm>
            <a:off x="581193" y="2228003"/>
            <a:ext cx="5422390" cy="36330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33756" lvl="0" marL="457200" algn="l"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indent="-333756" lvl="1" marL="914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indent="-333756" lvl="2" marL="13716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indent="-333756" lvl="3" marL="18288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indent="-333756" lvl="4" marL="22860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indent="-333756" lvl="5" marL="27432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indent="-333756" lvl="6" marL="3200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indent="-333756" lvl="7" marL="36576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indent="-333756" lvl="8" marL="4114800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2" type="body"/>
          </p:nvPr>
        </p:nvSpPr>
        <p:spPr>
          <a:xfrm>
            <a:off x="6188417" y="2228003"/>
            <a:ext cx="5422392" cy="36330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33756" lvl="0" marL="457200" algn="l"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indent="-333756" lvl="1" marL="914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indent="-333756" lvl="2" marL="13716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indent="-333756" lvl="3" marL="18288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indent="-333756" lvl="4" marL="22860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indent="-333756" lvl="5" marL="27432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indent="-333756" lvl="6" marL="3200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indent="-333756" lvl="7" marL="36576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indent="-333756" lvl="8" marL="4114800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10" type="dt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11" type="ftr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12" type="sldNum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7"/>
          <p:cNvSpPr/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7"/>
          <p:cNvSpPr txBox="1"/>
          <p:nvPr>
            <p:ph type="title"/>
          </p:nvPr>
        </p:nvSpPr>
        <p:spPr>
          <a:xfrm>
            <a:off x="581193" y="729658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7"/>
          <p:cNvSpPr txBox="1"/>
          <p:nvPr>
            <p:ph idx="1" type="body"/>
          </p:nvPr>
        </p:nvSpPr>
        <p:spPr>
          <a:xfrm>
            <a:off x="887219" y="2250892"/>
            <a:ext cx="5087075" cy="53600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40"/>
              </a:spcBef>
              <a:spcAft>
                <a:spcPts val="0"/>
              </a:spcAft>
              <a:buSzPts val="2024"/>
              <a:buNone/>
              <a:defRPr b="0" sz="2200">
                <a:solidFill>
                  <a:schemeClr val="accent2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840"/>
              <a:buNone/>
              <a:defRPr b="1" sz="20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656"/>
              <a:buNone/>
              <a:defRPr b="1" sz="18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472"/>
              <a:buNone/>
              <a:defRPr b="1" sz="1600"/>
            </a:lvl9pPr>
          </a:lstStyle>
          <a:p/>
        </p:txBody>
      </p:sp>
      <p:sp>
        <p:nvSpPr>
          <p:cNvPr id="57" name="Google Shape;57;p7"/>
          <p:cNvSpPr txBox="1"/>
          <p:nvPr>
            <p:ph idx="2" type="body"/>
          </p:nvPr>
        </p:nvSpPr>
        <p:spPr>
          <a:xfrm>
            <a:off x="581194" y="2926052"/>
            <a:ext cx="5393100" cy="2934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3756" lvl="0" marL="457200" algn="l"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indent="-333756" lvl="1" marL="914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indent="-333756" lvl="2" marL="13716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indent="-333756" lvl="3" marL="18288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indent="-333756" lvl="4" marL="22860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indent="-333756" lvl="5" marL="27432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indent="-333756" lvl="6" marL="3200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indent="-333756" lvl="7" marL="36576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indent="-333756" lvl="8" marL="4114800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58" name="Google Shape;58;p7"/>
          <p:cNvSpPr txBox="1"/>
          <p:nvPr>
            <p:ph idx="3" type="body"/>
          </p:nvPr>
        </p:nvSpPr>
        <p:spPr>
          <a:xfrm>
            <a:off x="6523735" y="2250892"/>
            <a:ext cx="5087073" cy="55337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40"/>
              </a:spcBef>
              <a:spcAft>
                <a:spcPts val="0"/>
              </a:spcAft>
              <a:buSzPts val="2024"/>
              <a:buNone/>
              <a:defRPr b="0" sz="2200">
                <a:solidFill>
                  <a:schemeClr val="accent2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840"/>
              <a:buNone/>
              <a:defRPr b="1" sz="20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656"/>
              <a:buNone/>
              <a:defRPr b="1" sz="18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472"/>
              <a:buNone/>
              <a:defRPr b="1" sz="1600"/>
            </a:lvl9pPr>
          </a:lstStyle>
          <a:p/>
        </p:txBody>
      </p:sp>
      <p:sp>
        <p:nvSpPr>
          <p:cNvPr id="59" name="Google Shape;59;p7"/>
          <p:cNvSpPr txBox="1"/>
          <p:nvPr>
            <p:ph idx="4" type="body"/>
          </p:nvPr>
        </p:nvSpPr>
        <p:spPr>
          <a:xfrm>
            <a:off x="6217709" y="2926052"/>
            <a:ext cx="5393100" cy="2934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3756" lvl="0" marL="457200" algn="l"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indent="-333756" lvl="1" marL="914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indent="-333756" lvl="2" marL="13716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indent="-333756" lvl="3" marL="18288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indent="-333756" lvl="4" marL="22860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indent="-333756" lvl="5" marL="27432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indent="-333756" lvl="6" marL="3200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indent="-333756" lvl="7" marL="36576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indent="-333756" lvl="8" marL="4114800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60" name="Google Shape;60;p7"/>
          <p:cNvSpPr txBox="1"/>
          <p:nvPr>
            <p:ph idx="10" type="dt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7"/>
          <p:cNvSpPr txBox="1"/>
          <p:nvPr>
            <p:ph idx="11" type="ftr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7"/>
          <p:cNvSpPr txBox="1"/>
          <p:nvPr>
            <p:ph idx="12" type="sldNum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8"/>
          <p:cNvSpPr txBox="1"/>
          <p:nvPr>
            <p:ph idx="10" type="dt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8"/>
          <p:cNvSpPr txBox="1"/>
          <p:nvPr>
            <p:ph idx="11" type="ftr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8"/>
          <p:cNvSpPr txBox="1"/>
          <p:nvPr>
            <p:ph idx="12" type="sldNum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9"/>
          <p:cNvSpPr/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9"/>
          <p:cNvSpPr txBox="1"/>
          <p:nvPr>
            <p:ph type="title"/>
          </p:nvPr>
        </p:nvSpPr>
        <p:spPr>
          <a:xfrm>
            <a:off x="581192" y="5262296"/>
            <a:ext cx="4909445" cy="6895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6C8089"/>
              </a:buClr>
              <a:buSzPts val="2000"/>
              <a:buFont typeface="Gill Sans"/>
              <a:buNone/>
              <a:defRPr b="0" sz="2000">
                <a:solidFill>
                  <a:srgbClr val="6C8089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9"/>
          <p:cNvSpPr txBox="1"/>
          <p:nvPr>
            <p:ph idx="1" type="body"/>
          </p:nvPr>
        </p:nvSpPr>
        <p:spPr>
          <a:xfrm>
            <a:off x="447816" y="601200"/>
            <a:ext cx="11292840" cy="42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5440" lvl="0" marL="457200" algn="l">
              <a:spcBef>
                <a:spcPts val="400"/>
              </a:spcBef>
              <a:spcAft>
                <a:spcPts val="0"/>
              </a:spcAft>
              <a:buSzPts val="1840"/>
              <a:buChar char="◼"/>
              <a:defRPr sz="2000">
                <a:solidFill>
                  <a:schemeClr val="dk2"/>
                </a:solidFill>
              </a:defRPr>
            </a:lvl1pPr>
            <a:lvl2pPr indent="-333756" lvl="1" marL="914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 sz="1800">
                <a:solidFill>
                  <a:schemeClr val="dk2"/>
                </a:solidFill>
              </a:defRPr>
            </a:lvl2pPr>
            <a:lvl3pPr indent="-322072" lvl="2" marL="1371600" algn="l">
              <a:spcBef>
                <a:spcPts val="600"/>
              </a:spcBef>
              <a:spcAft>
                <a:spcPts val="0"/>
              </a:spcAft>
              <a:buSzPts val="1472"/>
              <a:buChar char="◼"/>
              <a:defRPr sz="1600">
                <a:solidFill>
                  <a:schemeClr val="dk2"/>
                </a:solidFill>
              </a:defRPr>
            </a:lvl3pPr>
            <a:lvl4pPr indent="-310388" lvl="3" marL="1828800" algn="l"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4pPr>
            <a:lvl5pPr indent="-310388" lvl="4" marL="2286000" algn="l"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5pPr>
            <a:lvl6pPr indent="-310388" lvl="5" marL="2743200" algn="l"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6pPr>
            <a:lvl7pPr indent="-310388" lvl="6" marL="3200400" algn="l"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7pPr>
            <a:lvl8pPr indent="-310388" lvl="7" marL="3657600" algn="l"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8pPr>
            <a:lvl9pPr indent="-310388" lvl="8" marL="4114800" algn="l">
              <a:spcBef>
                <a:spcPts val="600"/>
              </a:spcBef>
              <a:spcAft>
                <a:spcPts val="60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1" name="Google Shape;71;p9"/>
          <p:cNvSpPr txBox="1"/>
          <p:nvPr>
            <p:ph idx="2" type="body"/>
          </p:nvPr>
        </p:nvSpPr>
        <p:spPr>
          <a:xfrm>
            <a:off x="5740823" y="5262296"/>
            <a:ext cx="5869987" cy="68951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r">
              <a:spcBef>
                <a:spcPts val="220"/>
              </a:spcBef>
              <a:spcAft>
                <a:spcPts val="0"/>
              </a:spcAft>
              <a:buSzPts val="1012"/>
              <a:buNone/>
              <a:defRPr sz="11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012"/>
              <a:buNone/>
              <a:defRPr sz="11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920"/>
              <a:buNone/>
              <a:defRPr sz="10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828"/>
              <a:buNone/>
              <a:defRPr sz="900"/>
            </a:lvl9pPr>
          </a:lstStyle>
          <a:p/>
        </p:txBody>
      </p:sp>
      <p:sp>
        <p:nvSpPr>
          <p:cNvPr id="72" name="Google Shape;72;p9"/>
          <p:cNvSpPr txBox="1"/>
          <p:nvPr>
            <p:ph idx="10" type="dt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6C8089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9"/>
          <p:cNvSpPr txBox="1"/>
          <p:nvPr>
            <p:ph idx="11" type="ftr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6C8089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>
            <p:ph idx="12" type="sldNum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900">
                <a:solidFill>
                  <a:srgbClr val="6C8089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algn="r">
              <a:spcBef>
                <a:spcPts val="0"/>
              </a:spcBef>
              <a:buNone/>
              <a:defRPr sz="900">
                <a:solidFill>
                  <a:srgbClr val="6C8089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algn="r">
              <a:spcBef>
                <a:spcPts val="0"/>
              </a:spcBef>
              <a:buNone/>
              <a:defRPr sz="900">
                <a:solidFill>
                  <a:srgbClr val="6C8089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algn="r">
              <a:spcBef>
                <a:spcPts val="0"/>
              </a:spcBef>
              <a:buNone/>
              <a:defRPr sz="900">
                <a:solidFill>
                  <a:srgbClr val="6C8089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algn="r">
              <a:spcBef>
                <a:spcPts val="0"/>
              </a:spcBef>
              <a:buNone/>
              <a:defRPr sz="900">
                <a:solidFill>
                  <a:srgbClr val="6C8089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algn="r">
              <a:spcBef>
                <a:spcPts val="0"/>
              </a:spcBef>
              <a:buNone/>
              <a:defRPr sz="900">
                <a:solidFill>
                  <a:srgbClr val="6C8089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algn="r">
              <a:spcBef>
                <a:spcPts val="0"/>
              </a:spcBef>
              <a:buNone/>
              <a:defRPr sz="900">
                <a:solidFill>
                  <a:srgbClr val="6C8089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algn="r">
              <a:spcBef>
                <a:spcPts val="0"/>
              </a:spcBef>
              <a:buNone/>
              <a:defRPr sz="900">
                <a:solidFill>
                  <a:srgbClr val="6C8089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algn="r">
              <a:spcBef>
                <a:spcPts val="0"/>
              </a:spcBef>
              <a:buNone/>
              <a:defRPr sz="900">
                <a:solidFill>
                  <a:srgbClr val="6C8089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0"/>
          <p:cNvSpPr txBox="1"/>
          <p:nvPr>
            <p:ph type="title"/>
          </p:nvPr>
        </p:nvSpPr>
        <p:spPr>
          <a:xfrm>
            <a:off x="581193" y="4693389"/>
            <a:ext cx="11029616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Gill Sans"/>
              <a:buNone/>
              <a:defRPr b="0" sz="2400">
                <a:solidFill>
                  <a:schemeClr val="accen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0"/>
          <p:cNvSpPr/>
          <p:nvPr>
            <p:ph idx="2" type="pic"/>
          </p:nvPr>
        </p:nvSpPr>
        <p:spPr>
          <a:xfrm>
            <a:off x="447817" y="599725"/>
            <a:ext cx="11290859" cy="3557252"/>
          </a:xfrm>
          <a:prstGeom prst="rect">
            <a:avLst/>
          </a:prstGeom>
          <a:noFill/>
          <a:ln>
            <a:noFill/>
          </a:ln>
        </p:spPr>
      </p:sp>
      <p:sp>
        <p:nvSpPr>
          <p:cNvPr id="78" name="Google Shape;78;p10"/>
          <p:cNvSpPr txBox="1"/>
          <p:nvPr>
            <p:ph idx="1" type="body"/>
          </p:nvPr>
        </p:nvSpPr>
        <p:spPr>
          <a:xfrm>
            <a:off x="581192" y="5260127"/>
            <a:ext cx="11029617" cy="5986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40"/>
              </a:spcBef>
              <a:spcAft>
                <a:spcPts val="0"/>
              </a:spcAft>
              <a:buSzPts val="1104"/>
              <a:buNone/>
              <a:defRPr sz="12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104"/>
              <a:buNone/>
              <a:defRPr sz="12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920"/>
              <a:buNone/>
              <a:defRPr sz="10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828"/>
              <a:buNone/>
              <a:defRPr sz="900"/>
            </a:lvl9pPr>
          </a:lstStyle>
          <a:p/>
        </p:txBody>
      </p:sp>
      <p:sp>
        <p:nvSpPr>
          <p:cNvPr id="79" name="Google Shape;79;p10"/>
          <p:cNvSpPr txBox="1"/>
          <p:nvPr>
            <p:ph idx="10" type="dt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0"/>
          <p:cNvSpPr txBox="1"/>
          <p:nvPr>
            <p:ph idx="11" type="ftr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0"/>
          <p:cNvSpPr txBox="1"/>
          <p:nvPr>
            <p:ph idx="12" type="sldNum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1"/>
          <p:cNvSpPr/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1"/>
          <p:cNvSpPr txBox="1"/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1"/>
          <p:cNvSpPr txBox="1"/>
          <p:nvPr>
            <p:ph idx="1" type="body"/>
          </p:nvPr>
        </p:nvSpPr>
        <p:spPr>
          <a:xfrm rot="5400000">
            <a:off x="4334603" y="-1417408"/>
            <a:ext cx="3522794" cy="110296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3756" lvl="0" marL="457200" algn="l"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indent="-322072" lvl="1" marL="914400" algn="l">
              <a:spcBef>
                <a:spcPts val="600"/>
              </a:spcBef>
              <a:spcAft>
                <a:spcPts val="0"/>
              </a:spcAft>
              <a:buSzPts val="1472"/>
              <a:buChar char="◼"/>
              <a:defRPr/>
            </a:lvl2pPr>
            <a:lvl3pPr indent="-310388" lvl="2" marL="1371600" algn="l">
              <a:spcBef>
                <a:spcPts val="600"/>
              </a:spcBef>
              <a:spcAft>
                <a:spcPts val="0"/>
              </a:spcAft>
              <a:buSzPts val="1288"/>
              <a:buChar char="◼"/>
              <a:defRPr/>
            </a:lvl3pPr>
            <a:lvl4pPr indent="-298703" lvl="3" marL="1828800" algn="l">
              <a:spcBef>
                <a:spcPts val="600"/>
              </a:spcBef>
              <a:spcAft>
                <a:spcPts val="0"/>
              </a:spcAft>
              <a:buSzPts val="1104"/>
              <a:buChar char="◼"/>
              <a:defRPr/>
            </a:lvl4pPr>
            <a:lvl5pPr indent="-298704" lvl="4" marL="2286000" algn="l">
              <a:spcBef>
                <a:spcPts val="600"/>
              </a:spcBef>
              <a:spcAft>
                <a:spcPts val="0"/>
              </a:spcAft>
              <a:buSzPts val="1104"/>
              <a:buChar char="◼"/>
              <a:defRPr/>
            </a:lvl5pPr>
            <a:lvl6pPr indent="-333756" lvl="5" marL="27432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indent="-333756" lvl="6" marL="3200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indent="-333756" lvl="7" marL="36576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indent="-333756" lvl="8" marL="4114800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86" name="Google Shape;86;p11"/>
          <p:cNvSpPr txBox="1"/>
          <p:nvPr>
            <p:ph idx="10" type="dt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1"/>
          <p:cNvSpPr txBox="1"/>
          <p:nvPr>
            <p:ph idx="11" type="ftr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1"/>
          <p:cNvSpPr txBox="1"/>
          <p:nvPr>
            <p:ph idx="12" type="sldNum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2"/>
          <p:cNvSpPr/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2"/>
          <p:cNvSpPr txBox="1"/>
          <p:nvPr>
            <p:ph type="title"/>
          </p:nvPr>
        </p:nvSpPr>
        <p:spPr>
          <a:xfrm rot="5400000">
            <a:off x="7249746" y="2265181"/>
            <a:ext cx="5183073" cy="200416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2"/>
          <p:cNvSpPr txBox="1"/>
          <p:nvPr>
            <p:ph idx="1" type="body"/>
          </p:nvPr>
        </p:nvSpPr>
        <p:spPr>
          <a:xfrm rot="5400000">
            <a:off x="2131526" y="-680877"/>
            <a:ext cx="5183073" cy="78962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3756" lvl="0" marL="457200" algn="l"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indent="-333756" lvl="1" marL="914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indent="-333756" lvl="2" marL="13716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indent="-333756" lvl="3" marL="18288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indent="-333756" lvl="4" marL="22860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indent="-333756" lvl="5" marL="27432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indent="-333756" lvl="6" marL="3200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indent="-333756" lvl="7" marL="36576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indent="-333756" lvl="8" marL="4114800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93" name="Google Shape;93;p12"/>
          <p:cNvSpPr txBox="1"/>
          <p:nvPr>
            <p:ph idx="10" type="dt"/>
          </p:nvPr>
        </p:nvSpPr>
        <p:spPr>
          <a:xfrm>
            <a:off x="8993673" y="5956137"/>
            <a:ext cx="132814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6C8089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2"/>
          <p:cNvSpPr txBox="1"/>
          <p:nvPr>
            <p:ph idx="11" type="ftr"/>
          </p:nvPr>
        </p:nvSpPr>
        <p:spPr>
          <a:xfrm>
            <a:off x="774923" y="5951811"/>
            <a:ext cx="789627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12"/>
          <p:cNvSpPr txBox="1"/>
          <p:nvPr>
            <p:ph idx="12" type="sldNum"/>
          </p:nvPr>
        </p:nvSpPr>
        <p:spPr>
          <a:xfrm>
            <a:off x="10446615" y="5956137"/>
            <a:ext cx="116419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900">
                <a:solidFill>
                  <a:srgbClr val="6C8089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algn="r">
              <a:spcBef>
                <a:spcPts val="0"/>
              </a:spcBef>
              <a:buNone/>
              <a:defRPr sz="900">
                <a:solidFill>
                  <a:srgbClr val="6C8089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algn="r">
              <a:spcBef>
                <a:spcPts val="0"/>
              </a:spcBef>
              <a:buNone/>
              <a:defRPr sz="900">
                <a:solidFill>
                  <a:srgbClr val="6C8089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algn="r">
              <a:spcBef>
                <a:spcPts val="0"/>
              </a:spcBef>
              <a:buNone/>
              <a:defRPr sz="900">
                <a:solidFill>
                  <a:srgbClr val="6C8089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algn="r">
              <a:spcBef>
                <a:spcPts val="0"/>
              </a:spcBef>
              <a:buNone/>
              <a:defRPr sz="900">
                <a:solidFill>
                  <a:srgbClr val="6C8089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algn="r">
              <a:spcBef>
                <a:spcPts val="0"/>
              </a:spcBef>
              <a:buNone/>
              <a:defRPr sz="900">
                <a:solidFill>
                  <a:srgbClr val="6C8089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algn="r">
              <a:spcBef>
                <a:spcPts val="0"/>
              </a:spcBef>
              <a:buNone/>
              <a:defRPr sz="900">
                <a:solidFill>
                  <a:srgbClr val="6C8089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algn="r">
              <a:spcBef>
                <a:spcPts val="0"/>
              </a:spcBef>
              <a:buNone/>
              <a:defRPr sz="900">
                <a:solidFill>
                  <a:srgbClr val="6C8089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algn="r">
              <a:spcBef>
                <a:spcPts val="0"/>
              </a:spcBef>
              <a:buNone/>
              <a:defRPr sz="900">
                <a:solidFill>
                  <a:srgbClr val="6C8089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  <a:defRPr b="0" i="0" sz="2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33756" lvl="0" marL="457200" marR="0" rtl="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b="0" i="0" sz="18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322072" lvl="1" marL="9144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72"/>
              <a:buFont typeface="Noto Sans Symbols"/>
              <a:buChar char="◼"/>
              <a:defRPr b="0" i="0" sz="16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310388" lvl="2" marL="13716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288"/>
              <a:buFont typeface="Noto Sans Symbols"/>
              <a:buChar char="◼"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298703" lvl="3" marL="18288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298704" lvl="4" marL="22860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298704" lvl="5" marL="27432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-298704" lvl="6" marL="32004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-298703" lvl="7" marL="36576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-298703" lvl="8" marL="4114800" marR="0" rtl="0" algn="l"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" name="Google Shape;15;p1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1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png"/><Relationship Id="rId4" Type="http://schemas.openxmlformats.org/officeDocument/2006/relationships/image" Target="../media/image7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png"/><Relationship Id="rId4" Type="http://schemas.openxmlformats.org/officeDocument/2006/relationships/image" Target="../media/image7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3.png"/><Relationship Id="rId4" Type="http://schemas.openxmlformats.org/officeDocument/2006/relationships/image" Target="../media/image7.jpg"/><Relationship Id="rId5" Type="http://schemas.openxmlformats.org/officeDocument/2006/relationships/image" Target="../media/image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7.png"/><Relationship Id="rId4" Type="http://schemas.openxmlformats.org/officeDocument/2006/relationships/image" Target="../media/image15.png"/><Relationship Id="rId5" Type="http://schemas.openxmlformats.org/officeDocument/2006/relationships/image" Target="../media/image1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2.png"/><Relationship Id="rId4" Type="http://schemas.openxmlformats.org/officeDocument/2006/relationships/image" Target="../media/image7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2.png"/><Relationship Id="rId4" Type="http://schemas.openxmlformats.org/officeDocument/2006/relationships/image" Target="../media/image7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2.png"/><Relationship Id="rId4" Type="http://schemas.openxmlformats.org/officeDocument/2006/relationships/image" Target="../media/image7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3"/>
          <p:cNvSpPr txBox="1"/>
          <p:nvPr>
            <p:ph type="ctrTitle"/>
          </p:nvPr>
        </p:nvSpPr>
        <p:spPr>
          <a:xfrm>
            <a:off x="581191" y="1020431"/>
            <a:ext cx="10993549" cy="14750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Gill Sans"/>
              <a:buNone/>
            </a:pPr>
            <a:r>
              <a:rPr lang="en-US"/>
              <a:t>LECTURE 7: SUPPLY</a:t>
            </a:r>
            <a:endParaRPr/>
          </a:p>
        </p:txBody>
      </p:sp>
      <p:sp>
        <p:nvSpPr>
          <p:cNvPr id="101" name="Google Shape;101;p13"/>
          <p:cNvSpPr txBox="1"/>
          <p:nvPr/>
        </p:nvSpPr>
        <p:spPr>
          <a:xfrm>
            <a:off x="1066800" y="3634085"/>
            <a:ext cx="6096000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ECO101: Introduction to microeconomics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Fall 2020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BRAC University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4"/>
          <p:cNvSpPr txBox="1"/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ambria"/>
              <a:buNone/>
            </a:pPr>
            <a:r>
              <a:rPr b="1" lang="en-US" sz="2800">
                <a:latin typeface="Cambria"/>
                <a:ea typeface="Cambria"/>
                <a:cs typeface="Cambria"/>
                <a:sym typeface="Cambria"/>
              </a:rPr>
              <a:t>SUPPLY SCHEDULE AND SUPPLY CURVE</a:t>
            </a:r>
            <a:endParaRPr/>
          </a:p>
        </p:txBody>
      </p:sp>
      <p:sp>
        <p:nvSpPr>
          <p:cNvPr id="107" name="Google Shape;107;p14"/>
          <p:cNvSpPr txBox="1"/>
          <p:nvPr>
            <p:ph idx="1" type="body"/>
          </p:nvPr>
        </p:nvSpPr>
        <p:spPr>
          <a:xfrm>
            <a:off x="581192" y="2180497"/>
            <a:ext cx="10124907" cy="3305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2500" lnSpcReduction="20000"/>
          </a:bodyPr>
          <a:lstStyle/>
          <a:p>
            <a:pPr indent="-165499" lvl="0" marL="306000" rtl="0" algn="l">
              <a:spcBef>
                <a:spcPts val="0"/>
              </a:spcBef>
              <a:spcAft>
                <a:spcPts val="0"/>
              </a:spcAft>
              <a:buSzPct val="92000"/>
              <a:buNone/>
            </a:pPr>
            <a:r>
              <a:t/>
            </a:r>
            <a:endParaRPr sz="2600"/>
          </a:p>
          <a:p>
            <a:pPr indent="-305999" lvl="0" marL="306000" rtl="0" algn="l">
              <a:spcBef>
                <a:spcPts val="1266"/>
              </a:spcBef>
              <a:spcAft>
                <a:spcPts val="0"/>
              </a:spcAft>
              <a:buSzPct val="91999"/>
              <a:buChar char="◼"/>
            </a:pPr>
            <a:r>
              <a:rPr lang="en-US" sz="3600">
                <a:latin typeface="Cambria"/>
                <a:ea typeface="Cambria"/>
                <a:cs typeface="Cambria"/>
                <a:sym typeface="Cambria"/>
              </a:rPr>
              <a:t>A </a:t>
            </a:r>
            <a:r>
              <a:rPr b="1" i="1" lang="en-US" sz="3600">
                <a:solidFill>
                  <a:srgbClr val="FFC000"/>
                </a:solidFill>
                <a:latin typeface="Cambria"/>
                <a:ea typeface="Cambria"/>
                <a:cs typeface="Cambria"/>
                <a:sym typeface="Cambria"/>
              </a:rPr>
              <a:t>supply schedule</a:t>
            </a:r>
            <a:r>
              <a:rPr lang="en-US" sz="3600">
                <a:solidFill>
                  <a:srgbClr val="FFC000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lang="en-US" sz="3600">
                <a:latin typeface="Cambria"/>
                <a:ea typeface="Cambria"/>
                <a:cs typeface="Cambria"/>
                <a:sym typeface="Cambria"/>
              </a:rPr>
              <a:t>is a table showing how much of a product firms(producers) will supply at different prices.</a:t>
            </a:r>
            <a:endParaRPr/>
          </a:p>
          <a:p>
            <a:pPr indent="-305999" lvl="0" marL="306000" rtl="0" algn="l">
              <a:spcBef>
                <a:spcPts val="1266"/>
              </a:spcBef>
              <a:spcAft>
                <a:spcPts val="0"/>
              </a:spcAft>
              <a:buSzPct val="91999"/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The </a:t>
            </a:r>
            <a:r>
              <a:rPr b="1" i="1" lang="en-US" sz="3600">
                <a:solidFill>
                  <a:srgbClr val="FFC000"/>
                </a:solidFill>
                <a:latin typeface="Cambria"/>
                <a:ea typeface="Cambria"/>
                <a:cs typeface="Cambria"/>
                <a:sym typeface="Cambria"/>
              </a:rPr>
              <a:t>supply curve</a:t>
            </a:r>
            <a:r>
              <a:rPr lang="en-US" sz="3600">
                <a:solidFill>
                  <a:srgbClr val="FFC000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lang="en-US" sz="36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is a graph illustrating how much of a given product firms(producers) would be willing to sell at different prices.</a:t>
            </a:r>
            <a:endParaRPr/>
          </a:p>
          <a:p>
            <a:pPr indent="-208730" lvl="0" marL="306000" rtl="0" algn="l">
              <a:spcBef>
                <a:spcPts val="933"/>
              </a:spcBef>
              <a:spcAft>
                <a:spcPts val="0"/>
              </a:spcAft>
              <a:buSzPct val="91999"/>
              <a:buNone/>
            </a:pPr>
            <a:r>
              <a:t/>
            </a:r>
            <a:endParaRPr/>
          </a:p>
          <a:p>
            <a:pPr indent="-208730" lvl="0" marL="306000" rtl="0" algn="l">
              <a:spcBef>
                <a:spcPts val="933"/>
              </a:spcBef>
              <a:spcAft>
                <a:spcPts val="0"/>
              </a:spcAft>
              <a:buSzPct val="91999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5"/>
          <p:cNvSpPr txBox="1"/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ambria"/>
              <a:buNone/>
            </a:pPr>
            <a:r>
              <a:rPr b="1" lang="en-US" sz="2800">
                <a:latin typeface="Cambria"/>
                <a:ea typeface="Cambria"/>
                <a:cs typeface="Cambria"/>
                <a:sym typeface="Cambria"/>
              </a:rPr>
              <a:t>SUPPLY SCHEDULE AND SUPPLY CURVE</a:t>
            </a:r>
            <a:endParaRPr/>
          </a:p>
        </p:txBody>
      </p:sp>
      <p:pic>
        <p:nvPicPr>
          <p:cNvPr id="113" name="Google Shape;113;p1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05100" y="1801681"/>
            <a:ext cx="6781800" cy="4158874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1552408" y="5598789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 lnSpcReduction="20000"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Calibri"/>
              <a:buNone/>
            </a:pPr>
            <a:br>
              <a:rPr i="0" lang="en-US"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4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Supply schedule                  Supply curve</a:t>
            </a:r>
            <a:br>
              <a:rPr i="0" lang="en-US"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i="0" sz="4700">
              <a:solidFill>
                <a:srgbClr val="3F3F3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6"/>
          <p:cNvSpPr txBox="1"/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2800"/>
              <a:buFont typeface="Cambria"/>
              <a:buNone/>
            </a:pPr>
            <a:r>
              <a:rPr b="1" lang="en-US" sz="2800">
                <a:solidFill>
                  <a:srgbClr val="FFC000"/>
                </a:solidFill>
                <a:latin typeface="Cambria"/>
                <a:ea typeface="Cambria"/>
                <a:cs typeface="Cambria"/>
                <a:sym typeface="Cambria"/>
              </a:rPr>
              <a:t>SUPPLY VS QUANTITY SUPPLIED</a:t>
            </a:r>
            <a:endParaRPr>
              <a:solidFill>
                <a:srgbClr val="FFC000"/>
              </a:solidFill>
            </a:endParaRPr>
          </a:p>
        </p:txBody>
      </p:sp>
      <p:sp>
        <p:nvSpPr>
          <p:cNvPr id="120" name="Google Shape;120;p16"/>
          <p:cNvSpPr txBox="1"/>
          <p:nvPr>
            <p:ph idx="1" type="body"/>
          </p:nvPr>
        </p:nvSpPr>
        <p:spPr>
          <a:xfrm>
            <a:off x="581192" y="2180497"/>
            <a:ext cx="10858333" cy="36107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06000" lvl="0" marL="306000" rtl="0" algn="l">
              <a:spcBef>
                <a:spcPts val="0"/>
              </a:spcBef>
              <a:spcAft>
                <a:spcPts val="0"/>
              </a:spcAft>
              <a:buSzPts val="3312"/>
              <a:buChar char="◼"/>
            </a:pPr>
            <a:r>
              <a:rPr lang="en-US" sz="3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Supply is not the same as Quantity supplied.</a:t>
            </a:r>
            <a:endParaRPr/>
          </a:p>
          <a:p>
            <a:pPr indent="-306000" lvl="0" marL="306000" rtl="0" algn="l">
              <a:spcBef>
                <a:spcPts val="1320"/>
              </a:spcBef>
              <a:spcAft>
                <a:spcPts val="0"/>
              </a:spcAft>
              <a:buSzPts val="3312"/>
              <a:buChar char="◼"/>
            </a:pPr>
            <a:r>
              <a:rPr lang="en-US" sz="3600">
                <a:solidFill>
                  <a:srgbClr val="21242C"/>
                </a:solidFill>
                <a:latin typeface="Cambria"/>
                <a:ea typeface="Cambria"/>
                <a:cs typeface="Cambria"/>
                <a:sym typeface="Cambria"/>
              </a:rPr>
              <a:t>Supply </a:t>
            </a:r>
            <a:r>
              <a:rPr b="1" lang="en-US" sz="3600">
                <a:solidFill>
                  <a:srgbClr val="FFC000"/>
                </a:solidFill>
                <a:latin typeface="Cambria"/>
                <a:ea typeface="Cambria"/>
                <a:cs typeface="Cambria"/>
                <a:sym typeface="Cambria"/>
              </a:rPr>
              <a:t>refers to the curve</a:t>
            </a:r>
            <a:r>
              <a:rPr lang="en-US" sz="3600">
                <a:solidFill>
                  <a:srgbClr val="21242C"/>
                </a:solidFill>
                <a:latin typeface="Cambria"/>
                <a:ea typeface="Cambria"/>
                <a:cs typeface="Cambria"/>
                <a:sym typeface="Cambria"/>
              </a:rPr>
              <a:t>, and quantity supplied </a:t>
            </a:r>
            <a:r>
              <a:rPr b="1" lang="en-US" sz="3600">
                <a:solidFill>
                  <a:srgbClr val="FFC000"/>
                </a:solidFill>
                <a:latin typeface="Cambria"/>
                <a:ea typeface="Cambria"/>
                <a:cs typeface="Cambria"/>
                <a:sym typeface="Cambria"/>
              </a:rPr>
              <a:t>refers to a specific point on the curve</a:t>
            </a:r>
            <a:r>
              <a:rPr b="1" lang="en-US" sz="3600">
                <a:solidFill>
                  <a:srgbClr val="21242C"/>
                </a:solidFill>
                <a:latin typeface="Cambria"/>
                <a:ea typeface="Cambria"/>
                <a:cs typeface="Cambria"/>
                <a:sym typeface="Cambria"/>
              </a:rPr>
              <a:t>.</a:t>
            </a:r>
            <a:endParaRPr sz="36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7"/>
          <p:cNvSpPr txBox="1"/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n-US"/>
              <a:t>THE LAW OF SUPPLY</a:t>
            </a:r>
            <a:endParaRPr/>
          </a:p>
        </p:txBody>
      </p:sp>
      <p:sp>
        <p:nvSpPr>
          <p:cNvPr id="126" name="Google Shape;126;p17"/>
          <p:cNvSpPr txBox="1"/>
          <p:nvPr>
            <p:ph idx="1" type="body"/>
          </p:nvPr>
        </p:nvSpPr>
        <p:spPr>
          <a:xfrm>
            <a:off x="428792" y="2180496"/>
            <a:ext cx="8229433" cy="39753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2500"/>
          </a:bodyPr>
          <a:lstStyle/>
          <a:p>
            <a:pPr indent="-154692" lvl="0" marL="306000" rtl="0" algn="l">
              <a:spcBef>
                <a:spcPts val="0"/>
              </a:spcBef>
              <a:spcAft>
                <a:spcPts val="0"/>
              </a:spcAft>
              <a:buSzPct val="92000"/>
              <a:buNone/>
            </a:pPr>
            <a:r>
              <a:t/>
            </a:r>
            <a:endParaRPr sz="2800">
              <a:latin typeface="Cambria"/>
              <a:ea typeface="Cambria"/>
              <a:cs typeface="Cambria"/>
              <a:sym typeface="Cambria"/>
            </a:endParaRPr>
          </a:p>
          <a:p>
            <a:pPr indent="-306000" lvl="0" marL="306000" rtl="0" algn="l">
              <a:spcBef>
                <a:spcPts val="1340"/>
              </a:spcBef>
              <a:spcAft>
                <a:spcPts val="0"/>
              </a:spcAft>
              <a:buSzPct val="91999"/>
              <a:buChar char="◼"/>
            </a:pPr>
            <a:r>
              <a:rPr lang="en-US" sz="40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The </a:t>
            </a:r>
            <a:r>
              <a:rPr b="1" i="1" lang="en-US" sz="40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law of supply</a:t>
            </a:r>
            <a:r>
              <a:rPr lang="en-US" sz="40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states that there is a positive relationship between price and quantity of a good supplied.</a:t>
            </a:r>
            <a:endParaRPr/>
          </a:p>
          <a:p>
            <a:pPr indent="-306000" lvl="0" marL="306000" rtl="0" algn="l">
              <a:spcBef>
                <a:spcPts val="1340"/>
              </a:spcBef>
              <a:spcAft>
                <a:spcPts val="0"/>
              </a:spcAft>
              <a:buSzPct val="91999"/>
              <a:buChar char="◼"/>
            </a:pPr>
            <a:r>
              <a:rPr lang="en-US" sz="40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This means that supply curves typically have a positive slope.</a:t>
            </a:r>
            <a:endParaRPr/>
          </a:p>
          <a:p>
            <a:pPr indent="-118692" lvl="2" marL="900000" rtl="0" algn="l">
              <a:spcBef>
                <a:spcPts val="1118"/>
              </a:spcBef>
              <a:spcAft>
                <a:spcPts val="0"/>
              </a:spcAft>
              <a:buSzPct val="92000"/>
              <a:buNone/>
            </a:pPr>
            <a:r>
              <a:t/>
            </a:r>
            <a:endParaRPr sz="2800"/>
          </a:p>
          <a:p>
            <a:pPr indent="-154692" lvl="0" marL="306000" rtl="0" algn="l">
              <a:spcBef>
                <a:spcPts val="1118"/>
              </a:spcBef>
              <a:spcAft>
                <a:spcPts val="0"/>
              </a:spcAft>
              <a:buSzPct val="92000"/>
              <a:buNone/>
            </a:pPr>
            <a:r>
              <a:t/>
            </a:r>
            <a:endParaRPr sz="2800"/>
          </a:p>
        </p:txBody>
      </p:sp>
      <p:pic>
        <p:nvPicPr>
          <p:cNvPr id="127" name="Google Shape;12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91738" y="2581275"/>
            <a:ext cx="3019070" cy="1695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8"/>
          <p:cNvSpPr txBox="1"/>
          <p:nvPr>
            <p:ph type="title"/>
          </p:nvPr>
        </p:nvSpPr>
        <p:spPr>
          <a:xfrm>
            <a:off x="762001" y="534988"/>
            <a:ext cx="9925050" cy="1295399"/>
          </a:xfrm>
          <a:prstGeom prst="rect">
            <a:avLst/>
          </a:prstGeom>
          <a:noFill/>
          <a:ln>
            <a:noFill/>
          </a:ln>
        </p:spPr>
        <p:txBody>
          <a:bodyPr anchorCtr="0" anchor="b" bIns="46025" lIns="92075" spcFirstLastPara="1" rIns="92075" wrap="square" tIns="460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n-US"/>
              <a:t>MOVEMENT ALONG THE CURVE  VS. </a:t>
            </a:r>
            <a:br>
              <a:rPr lang="en-US"/>
            </a:br>
            <a:r>
              <a:rPr lang="en-US"/>
              <a:t>SHIFT IN THE SUPPLY CURVE</a:t>
            </a:r>
            <a:endParaRPr/>
          </a:p>
        </p:txBody>
      </p:sp>
      <p:sp>
        <p:nvSpPr>
          <p:cNvPr id="134" name="Google Shape;134;p18"/>
          <p:cNvSpPr txBox="1"/>
          <p:nvPr/>
        </p:nvSpPr>
        <p:spPr>
          <a:xfrm>
            <a:off x="944865" y="2206607"/>
            <a:ext cx="6779029" cy="1200039"/>
          </a:xfrm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2575" lvl="0" marL="282575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Change in price of a good or service</a:t>
            </a:r>
            <a:endParaRPr/>
          </a:p>
          <a:p>
            <a:pPr indent="-282575" lvl="0" marL="282575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leads to a change in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quantity supplied</a:t>
            </a:r>
            <a:b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Movement along the curve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).</a:t>
            </a:r>
            <a:endParaRPr/>
          </a:p>
        </p:txBody>
      </p:sp>
      <p:sp>
        <p:nvSpPr>
          <p:cNvPr id="135" name="Google Shape;135;p18"/>
          <p:cNvSpPr txBox="1"/>
          <p:nvPr/>
        </p:nvSpPr>
        <p:spPr>
          <a:xfrm>
            <a:off x="944865" y="3980657"/>
            <a:ext cx="6779029" cy="1569660"/>
          </a:xfrm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2575" lvl="0" marL="282575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Change in costs, input prices, technology, or prices of related goods and services leads to a change in supply </a:t>
            </a:r>
            <a:endParaRPr/>
          </a:p>
          <a:p>
            <a:pPr indent="-282575" lvl="0" marL="282575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(</a:t>
            </a: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Shift of curve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).</a:t>
            </a:r>
            <a:endParaRPr/>
          </a:p>
        </p:txBody>
      </p:sp>
      <p:pic>
        <p:nvPicPr>
          <p:cNvPr id="136" name="Google Shape;13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9575" y="2062002"/>
            <a:ext cx="3048000" cy="23908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05775" y="4475000"/>
            <a:ext cx="2838450" cy="22259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9"/>
          <p:cNvSpPr txBox="1"/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6025" lIns="92075" spcFirstLastPara="1" rIns="92075" wrap="square" tIns="460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n-US"/>
              <a:t>DETERMINANTS OF SUPPLY</a:t>
            </a:r>
            <a:endParaRPr b="1"/>
          </a:p>
        </p:txBody>
      </p:sp>
      <p:sp>
        <p:nvSpPr>
          <p:cNvPr id="144" name="Google Shape;144;p19"/>
          <p:cNvSpPr txBox="1"/>
          <p:nvPr>
            <p:ph idx="1" type="body"/>
          </p:nvPr>
        </p:nvSpPr>
        <p:spPr>
          <a:xfrm>
            <a:off x="666750" y="1752600"/>
            <a:ext cx="1110615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rmAutofit/>
          </a:bodyPr>
          <a:lstStyle/>
          <a:p>
            <a:pPr indent="-306000" lvl="0" marL="3060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760"/>
              <a:buChar char="◼"/>
            </a:pPr>
            <a:r>
              <a:rPr lang="en-US" sz="30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The </a:t>
            </a:r>
            <a:r>
              <a:rPr b="1" i="1" lang="en-US" sz="30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price</a:t>
            </a:r>
            <a:r>
              <a:rPr lang="en-US" sz="30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of the good or service.</a:t>
            </a:r>
            <a:endParaRPr/>
          </a:p>
          <a:p>
            <a:pPr indent="-306000" lvl="0" marL="3060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760"/>
              <a:buChar char="◼"/>
            </a:pPr>
            <a:r>
              <a:rPr lang="en-US" sz="30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The </a:t>
            </a:r>
            <a:r>
              <a:rPr b="1" i="1" lang="en-US" sz="30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cost </a:t>
            </a:r>
            <a:r>
              <a:rPr lang="en-US" sz="30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of producing the good, which in turn depends on:</a:t>
            </a:r>
            <a:endParaRPr/>
          </a:p>
          <a:p>
            <a:pPr indent="-306000" lvl="1" marL="6300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760"/>
              <a:buChar char="◼"/>
            </a:pPr>
            <a:r>
              <a:rPr lang="en-US" sz="3000">
                <a:latin typeface="Cambria"/>
                <a:ea typeface="Cambria"/>
                <a:cs typeface="Cambria"/>
                <a:sym typeface="Cambria"/>
              </a:rPr>
              <a:t>Price of Inputs </a:t>
            </a:r>
            <a:r>
              <a:rPr lang="en-US" sz="30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(labor, capital, and land),</a:t>
            </a:r>
            <a:endParaRPr/>
          </a:p>
          <a:p>
            <a:pPr indent="-306000" lvl="1" marL="6300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760"/>
              <a:buChar char="◼"/>
            </a:pPr>
            <a:r>
              <a:rPr lang="en-US" sz="3000">
                <a:latin typeface="Cambria"/>
                <a:ea typeface="Cambria"/>
                <a:cs typeface="Cambria"/>
                <a:sym typeface="Cambria"/>
              </a:rPr>
              <a:t>Technology </a:t>
            </a:r>
            <a:endParaRPr sz="3000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06000" lvl="0" marL="3060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760"/>
              <a:buChar char="◼"/>
            </a:pPr>
            <a:r>
              <a:rPr lang="en-US" sz="3000">
                <a:latin typeface="Cambria"/>
                <a:ea typeface="Cambria"/>
                <a:cs typeface="Cambria"/>
                <a:sym typeface="Cambria"/>
              </a:rPr>
              <a:t>Expectations</a:t>
            </a:r>
            <a:endParaRPr/>
          </a:p>
          <a:p>
            <a:pPr indent="-306000" lvl="0" marL="3060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760"/>
              <a:buChar char="◼"/>
            </a:pPr>
            <a:r>
              <a:rPr lang="en-US" sz="3000">
                <a:latin typeface="Cambria"/>
                <a:ea typeface="Cambria"/>
                <a:cs typeface="Cambria"/>
                <a:sym typeface="Cambria"/>
              </a:rPr>
              <a:t>Government Policy (Taxes, Subsidies and Regulations)</a:t>
            </a:r>
            <a:endParaRPr/>
          </a:p>
          <a:p>
            <a:pPr indent="-306000" lvl="0" marL="3060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760"/>
              <a:buChar char="◼"/>
            </a:pPr>
            <a:r>
              <a:rPr lang="en-US" sz="3000">
                <a:latin typeface="Cambria"/>
                <a:ea typeface="Cambria"/>
                <a:cs typeface="Cambria"/>
                <a:sym typeface="Cambria"/>
              </a:rPr>
              <a:t>Competition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0"/>
          <p:cNvSpPr txBox="1"/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n-US"/>
              <a:t>PRICE</a:t>
            </a:r>
            <a:endParaRPr/>
          </a:p>
        </p:txBody>
      </p:sp>
      <p:pic>
        <p:nvPicPr>
          <p:cNvPr id="150" name="Google Shape;150;p2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24537" y="2326244"/>
            <a:ext cx="4319322" cy="3390106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20"/>
          <p:cNvSpPr txBox="1"/>
          <p:nvPr/>
        </p:nvSpPr>
        <p:spPr>
          <a:xfrm>
            <a:off x="581192" y="3059668"/>
            <a:ext cx="5157622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A change in price causes a movement </a:t>
            </a:r>
            <a:r>
              <a:rPr lang="en-US" sz="3000" u="sng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along</a:t>
            </a:r>
            <a:r>
              <a:rPr lang="en-US" sz="3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the supply curve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1"/>
          <p:cNvSpPr txBox="1"/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6025" lIns="92075" spcFirstLastPara="1" rIns="92075" wrap="square" tIns="460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n-US"/>
              <a:t>SHIFT FACTORS OF SUPPLY</a:t>
            </a:r>
            <a:endParaRPr b="1"/>
          </a:p>
        </p:txBody>
      </p:sp>
      <p:pic>
        <p:nvPicPr>
          <p:cNvPr descr="http://thismatter.com/economics/images/shifts-in-supply-curves.png" id="158" name="Google Shape;15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29325" y="2105025"/>
            <a:ext cx="4210050" cy="434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21"/>
          <p:cNvSpPr txBox="1"/>
          <p:nvPr/>
        </p:nvSpPr>
        <p:spPr>
          <a:xfrm>
            <a:off x="838200" y="2950938"/>
            <a:ext cx="4533900" cy="2400657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-US" sz="3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A </a:t>
            </a:r>
            <a:r>
              <a:rPr b="1" lang="en-US" sz="3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right</a:t>
            </a:r>
            <a:r>
              <a:rPr lang="en-US" sz="3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shift means an </a:t>
            </a:r>
            <a:r>
              <a:rPr b="1" lang="en-US" sz="3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increase</a:t>
            </a:r>
            <a:r>
              <a:rPr lang="en-US" sz="3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in Supply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t/>
            </a:r>
            <a:endParaRPr sz="30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-US" sz="3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A </a:t>
            </a:r>
            <a:r>
              <a:rPr b="1" lang="en-US" sz="3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left</a:t>
            </a:r>
            <a:r>
              <a:rPr lang="en-US" sz="3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shift means a </a:t>
            </a:r>
            <a:r>
              <a:rPr b="1" lang="en-US" sz="3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decrease</a:t>
            </a:r>
            <a:r>
              <a:rPr lang="en-US" sz="3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in Supply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2"/>
          <p:cNvSpPr txBox="1"/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6025" lIns="92075" spcFirstLastPara="1" rIns="92075" wrap="square" tIns="460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n-US"/>
              <a:t>SHIFT FACTORS OF SUPPLY</a:t>
            </a:r>
            <a:endParaRPr b="1"/>
          </a:p>
        </p:txBody>
      </p:sp>
      <p:sp>
        <p:nvSpPr>
          <p:cNvPr id="166" name="Google Shape;166;p22"/>
          <p:cNvSpPr txBox="1"/>
          <p:nvPr>
            <p:ph idx="1" type="body"/>
          </p:nvPr>
        </p:nvSpPr>
        <p:spPr>
          <a:xfrm>
            <a:off x="666750" y="1752600"/>
            <a:ext cx="10001250" cy="4333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760"/>
              <a:buNone/>
            </a:pPr>
            <a:r>
              <a:rPr b="1" lang="en-US" sz="3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Price of Inputs (labor, capital, and land)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760"/>
              <a:buNone/>
            </a:pPr>
            <a:r>
              <a:t/>
            </a:r>
            <a:endParaRPr sz="3000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06000" lvl="0" marL="3060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760"/>
              <a:buChar char="◼"/>
            </a:pPr>
            <a:r>
              <a:rPr lang="en-US" sz="3000">
                <a:latin typeface="Cambria"/>
                <a:ea typeface="Cambria"/>
                <a:cs typeface="Cambria"/>
                <a:sym typeface="Cambria"/>
              </a:rPr>
              <a:t>If input costs rise with no change in output, profits will decline, and a firm has less incentive to supply and vice-versa.</a:t>
            </a:r>
            <a:endParaRPr/>
          </a:p>
          <a:p>
            <a:pPr indent="-130740" lvl="0" marL="3060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760"/>
              <a:buNone/>
            </a:pPr>
            <a:r>
              <a:t/>
            </a:r>
            <a:endParaRPr sz="3000">
              <a:latin typeface="Cambria"/>
              <a:ea typeface="Cambria"/>
              <a:cs typeface="Cambria"/>
              <a:sym typeface="Cambria"/>
            </a:endParaRPr>
          </a:p>
          <a:p>
            <a:pPr indent="-130740" lvl="0" marL="3060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760"/>
              <a:buNone/>
            </a:pPr>
            <a:r>
              <a:t/>
            </a:r>
            <a:endParaRPr sz="3000"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3"/>
          <p:cNvSpPr txBox="1"/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6025" lIns="92075" spcFirstLastPara="1" rIns="92075" wrap="square" tIns="460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n-US"/>
              <a:t>SHIFT FACTORS OF SUPPLY</a:t>
            </a:r>
            <a:endParaRPr b="1"/>
          </a:p>
        </p:txBody>
      </p:sp>
      <p:sp>
        <p:nvSpPr>
          <p:cNvPr id="173" name="Google Shape;173;p23"/>
          <p:cNvSpPr txBox="1"/>
          <p:nvPr>
            <p:ph idx="1" type="body"/>
          </p:nvPr>
        </p:nvSpPr>
        <p:spPr>
          <a:xfrm>
            <a:off x="666750" y="1752600"/>
            <a:ext cx="10001250" cy="4333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944"/>
              <a:buNone/>
            </a:pPr>
            <a:r>
              <a:rPr b="1" lang="en-US" sz="3200"/>
              <a:t>Technology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SzPts val="2944"/>
              <a:buNone/>
            </a:pPr>
            <a:r>
              <a:t/>
            </a:r>
            <a:endParaRPr b="1" sz="3200"/>
          </a:p>
          <a:p>
            <a:pPr indent="-306000" lvl="0" marL="306000" rtl="0" algn="l">
              <a:spcBef>
                <a:spcPts val="640"/>
              </a:spcBef>
              <a:spcAft>
                <a:spcPts val="0"/>
              </a:spcAft>
              <a:buSzPts val="2944"/>
              <a:buChar char="◼"/>
            </a:pPr>
            <a:r>
              <a:rPr lang="en-US" sz="3200"/>
              <a:t>New technology can </a:t>
            </a:r>
            <a:r>
              <a:rPr b="1" lang="en-US" sz="3200"/>
              <a:t>reduce the costs of production</a:t>
            </a:r>
            <a:r>
              <a:rPr lang="en-US" sz="3200"/>
              <a:t>, leading to an increase in supply</a:t>
            </a:r>
            <a:endParaRPr/>
          </a:p>
          <a:p>
            <a:pPr indent="-130740" lvl="0" marL="3060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760"/>
              <a:buNone/>
            </a:pPr>
            <a:r>
              <a:t/>
            </a:r>
            <a:endParaRPr sz="3000">
              <a:latin typeface="Cambria"/>
              <a:ea typeface="Cambria"/>
              <a:cs typeface="Cambria"/>
              <a:sym typeface="Cambria"/>
            </a:endParaRPr>
          </a:p>
          <a:p>
            <a:pPr indent="-130740" lvl="0" marL="3060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760"/>
              <a:buNone/>
            </a:pPr>
            <a:r>
              <a:t/>
            </a:r>
            <a:endParaRPr sz="3000"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4"/>
          <p:cNvSpPr txBox="1"/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6025" lIns="92075" spcFirstLastPara="1" rIns="92075" wrap="square" tIns="460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n-US"/>
              <a:t>SHIFT FACTORS OF SUPPLY</a:t>
            </a:r>
            <a:endParaRPr b="1"/>
          </a:p>
        </p:txBody>
      </p:sp>
      <p:sp>
        <p:nvSpPr>
          <p:cNvPr id="180" name="Google Shape;180;p24"/>
          <p:cNvSpPr txBox="1"/>
          <p:nvPr>
            <p:ph idx="1" type="body"/>
          </p:nvPr>
        </p:nvSpPr>
        <p:spPr>
          <a:xfrm>
            <a:off x="581192" y="2019300"/>
            <a:ext cx="10001250" cy="4333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4048"/>
              <a:buNone/>
            </a:pPr>
            <a:r>
              <a:rPr b="0" i="0" lang="en-US" sz="4400">
                <a:solidFill>
                  <a:srgbClr val="F7931D"/>
                </a:solidFill>
                <a:latin typeface="Arial"/>
                <a:ea typeface="Arial"/>
                <a:cs typeface="Arial"/>
                <a:sym typeface="Arial"/>
              </a:rPr>
              <a:t>Expectations</a:t>
            </a:r>
            <a:endParaRPr b="1" sz="3200"/>
          </a:p>
          <a:p>
            <a:pPr indent="-306000" lvl="0" marL="306000" rtl="0" algn="l">
              <a:spcBef>
                <a:spcPts val="1240"/>
              </a:spcBef>
              <a:spcAft>
                <a:spcPts val="0"/>
              </a:spcAft>
              <a:buSzPts val="2944"/>
              <a:buChar char="◼"/>
            </a:pPr>
            <a:r>
              <a:rPr b="0" i="0" lang="en-US" sz="3200">
                <a:solidFill>
                  <a:srgbClr val="231F20"/>
                </a:solidFill>
                <a:latin typeface="Arial"/>
                <a:ea typeface="Arial"/>
                <a:cs typeface="Arial"/>
                <a:sym typeface="Arial"/>
              </a:rPr>
              <a:t>Supplier expectations are an important factor in the production decision. </a:t>
            </a:r>
            <a:endParaRPr/>
          </a:p>
          <a:p>
            <a:pPr indent="-306000" lvl="0" marL="306000" rtl="0" algn="l">
              <a:spcBef>
                <a:spcPts val="640"/>
              </a:spcBef>
              <a:spcAft>
                <a:spcPts val="0"/>
              </a:spcAft>
              <a:buSzPts val="2944"/>
              <a:buChar char="◼"/>
            </a:pPr>
            <a:r>
              <a:rPr b="0" i="0" lang="en-US" sz="3200">
                <a:solidFill>
                  <a:srgbClr val="231F20"/>
                </a:solidFill>
                <a:latin typeface="Arial"/>
                <a:ea typeface="Arial"/>
                <a:cs typeface="Arial"/>
                <a:sym typeface="Arial"/>
              </a:rPr>
              <a:t>If a supplier expects the price of the good to rise at some time in the future, </a:t>
            </a:r>
            <a:r>
              <a:rPr lang="en-US" sz="3200">
                <a:solidFill>
                  <a:srgbClr val="231F20"/>
                </a:solidFill>
                <a:latin typeface="Arial"/>
                <a:ea typeface="Arial"/>
                <a:cs typeface="Arial"/>
                <a:sym typeface="Arial"/>
              </a:rPr>
              <a:t>it m</a:t>
            </a:r>
            <a:r>
              <a:rPr b="0" i="0" lang="en-US" sz="3200">
                <a:solidFill>
                  <a:srgbClr val="231F20"/>
                </a:solidFill>
                <a:latin typeface="Arial"/>
                <a:ea typeface="Arial"/>
                <a:cs typeface="Arial"/>
                <a:sym typeface="Arial"/>
              </a:rPr>
              <a:t>ay store some of today’s supply to sell it later and reap higher profits, decreasing supply now and increasing it later.</a:t>
            </a:r>
            <a:endParaRPr sz="3000"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5"/>
          <p:cNvSpPr txBox="1"/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n-US"/>
              <a:t>INCOME</a:t>
            </a:r>
            <a:endParaRPr/>
          </a:p>
        </p:txBody>
      </p:sp>
      <p:sp>
        <p:nvSpPr>
          <p:cNvPr id="186" name="Google Shape;186;p25"/>
          <p:cNvSpPr txBox="1"/>
          <p:nvPr>
            <p:ph idx="1" type="body"/>
          </p:nvPr>
        </p:nvSpPr>
        <p:spPr>
          <a:xfrm>
            <a:off x="428791" y="1962151"/>
            <a:ext cx="11029616" cy="1724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40000" lnSpcReduction="20000"/>
          </a:bodyPr>
          <a:lstStyle/>
          <a:p>
            <a:pPr indent="-221875" lvl="0" marL="306000" rtl="0" algn="l">
              <a:spcBef>
                <a:spcPts val="0"/>
              </a:spcBef>
              <a:spcAft>
                <a:spcPts val="0"/>
              </a:spcAft>
              <a:buSzPct val="91999"/>
              <a:buNone/>
            </a:pPr>
            <a:r>
              <a:t/>
            </a:r>
            <a:endParaRPr sz="3600">
              <a:latin typeface="Cambria"/>
              <a:ea typeface="Cambria"/>
              <a:cs typeface="Cambria"/>
              <a:sym typeface="Cambria"/>
            </a:endParaRPr>
          </a:p>
          <a:p>
            <a:pPr indent="-305999" lvl="0" marL="306000" rtl="0" algn="l">
              <a:spcBef>
                <a:spcPts val="1288"/>
              </a:spcBef>
              <a:spcAft>
                <a:spcPts val="0"/>
              </a:spcAft>
              <a:buSzPct val="92000"/>
              <a:buChar char="◼"/>
            </a:pPr>
            <a:r>
              <a:rPr lang="en-US" sz="8600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rPr>
              <a:t>Normal Goods </a:t>
            </a:r>
            <a:r>
              <a:rPr lang="en-US" sz="8600">
                <a:latin typeface="Cambria"/>
                <a:ea typeface="Cambria"/>
                <a:cs typeface="Cambria"/>
                <a:sym typeface="Cambria"/>
              </a:rPr>
              <a:t>– For normal goods d</a:t>
            </a:r>
            <a:r>
              <a:rPr b="0" i="0" lang="en-US" sz="8600">
                <a:solidFill>
                  <a:srgbClr val="231F20"/>
                </a:solidFill>
                <a:latin typeface="Cambria"/>
                <a:ea typeface="Cambria"/>
                <a:cs typeface="Cambria"/>
                <a:sym typeface="Cambria"/>
              </a:rPr>
              <a:t>emand increases with an increase in income or vice-versa.</a:t>
            </a:r>
            <a:endParaRPr/>
          </a:p>
          <a:p>
            <a:pPr indent="-105035" lvl="1" marL="630000" rtl="0" algn="l">
              <a:spcBef>
                <a:spcPts val="1288"/>
              </a:spcBef>
              <a:spcAft>
                <a:spcPts val="0"/>
              </a:spcAft>
              <a:buSzPct val="92000"/>
              <a:buNone/>
            </a:pPr>
            <a:r>
              <a:t/>
            </a:r>
            <a:endParaRPr b="0" i="0" sz="8600">
              <a:solidFill>
                <a:srgbClr val="231F2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185875" lvl="2" marL="900000" rtl="0" algn="l">
              <a:spcBef>
                <a:spcPts val="888"/>
              </a:spcBef>
              <a:spcAft>
                <a:spcPts val="0"/>
              </a:spcAft>
              <a:buSzPct val="91999"/>
              <a:buNone/>
            </a:pPr>
            <a:r>
              <a:t/>
            </a:r>
            <a:endParaRPr sz="3600"/>
          </a:p>
          <a:p>
            <a:pPr indent="-263937" lvl="0" marL="306000" rtl="0" algn="l">
              <a:spcBef>
                <a:spcPts val="744"/>
              </a:spcBef>
              <a:spcAft>
                <a:spcPts val="0"/>
              </a:spcAft>
              <a:buSzPct val="91999"/>
              <a:buNone/>
            </a:pPr>
            <a:r>
              <a:t/>
            </a:r>
            <a:endParaRPr/>
          </a:p>
        </p:txBody>
      </p:sp>
      <p:sp>
        <p:nvSpPr>
          <p:cNvPr id="187" name="Google Shape;187;p25"/>
          <p:cNvSpPr txBox="1"/>
          <p:nvPr/>
        </p:nvSpPr>
        <p:spPr>
          <a:xfrm>
            <a:off x="85725" y="5786512"/>
            <a:ext cx="60960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2" marL="9144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Higher income =&gt; higher demand</a:t>
            </a:r>
            <a:endParaRPr/>
          </a:p>
        </p:txBody>
      </p:sp>
      <p:sp>
        <p:nvSpPr>
          <p:cNvPr id="188" name="Google Shape;188;p25"/>
          <p:cNvSpPr txBox="1"/>
          <p:nvPr/>
        </p:nvSpPr>
        <p:spPr>
          <a:xfrm>
            <a:off x="5362407" y="5786512"/>
            <a:ext cx="60960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2" marL="9144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Lower income =&gt; lower demand</a:t>
            </a:r>
            <a:endParaRPr/>
          </a:p>
        </p:txBody>
      </p:sp>
      <p:pic>
        <p:nvPicPr>
          <p:cNvPr id="189" name="Google Shape;189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72153" y="3098975"/>
            <a:ext cx="3224297" cy="270378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he graph represents the directions for step 3. An increased income results in an increase in demand, which is shown by a rightward shift in the demand curve." id="190" name="Google Shape;190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33475" y="3218744"/>
            <a:ext cx="3714750" cy="2276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6"/>
          <p:cNvSpPr txBox="1"/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n-US"/>
              <a:t>INCOME</a:t>
            </a:r>
            <a:endParaRPr/>
          </a:p>
        </p:txBody>
      </p:sp>
      <p:sp>
        <p:nvSpPr>
          <p:cNvPr id="196" name="Google Shape;196;p26"/>
          <p:cNvSpPr txBox="1"/>
          <p:nvPr>
            <p:ph idx="1" type="body"/>
          </p:nvPr>
        </p:nvSpPr>
        <p:spPr>
          <a:xfrm>
            <a:off x="428791" y="1962151"/>
            <a:ext cx="11029616" cy="1724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40000" lnSpcReduction="20000"/>
          </a:bodyPr>
          <a:lstStyle/>
          <a:p>
            <a:pPr indent="-221875" lvl="0" marL="306000" rtl="0" algn="l">
              <a:spcBef>
                <a:spcPts val="0"/>
              </a:spcBef>
              <a:spcAft>
                <a:spcPts val="0"/>
              </a:spcAft>
              <a:buSzPct val="91999"/>
              <a:buNone/>
            </a:pPr>
            <a:r>
              <a:t/>
            </a:r>
            <a:endParaRPr sz="3600">
              <a:latin typeface="Cambria"/>
              <a:ea typeface="Cambria"/>
              <a:cs typeface="Cambria"/>
              <a:sym typeface="Cambria"/>
            </a:endParaRPr>
          </a:p>
          <a:p>
            <a:pPr indent="-305999" lvl="0" marL="306000" rtl="0" algn="l">
              <a:spcBef>
                <a:spcPts val="1288"/>
              </a:spcBef>
              <a:spcAft>
                <a:spcPts val="0"/>
              </a:spcAft>
              <a:buSzPct val="92000"/>
              <a:buChar char="◼"/>
            </a:pPr>
            <a:r>
              <a:rPr lang="en-US" sz="8600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rPr>
              <a:t>Inferior Goods </a:t>
            </a:r>
            <a:r>
              <a:rPr lang="en-US" sz="8600">
                <a:latin typeface="Cambria"/>
                <a:ea typeface="Cambria"/>
                <a:cs typeface="Cambria"/>
                <a:sym typeface="Cambria"/>
              </a:rPr>
              <a:t>–For inferior goods d</a:t>
            </a:r>
            <a:r>
              <a:rPr b="0" i="0" lang="en-US" sz="8600">
                <a:solidFill>
                  <a:srgbClr val="231F20"/>
                </a:solidFill>
                <a:latin typeface="Cambria"/>
                <a:ea typeface="Cambria"/>
                <a:cs typeface="Cambria"/>
                <a:sym typeface="Cambria"/>
              </a:rPr>
              <a:t>emand decreases with an increase in income or vice-versa.</a:t>
            </a:r>
            <a:endParaRPr/>
          </a:p>
          <a:p>
            <a:pPr indent="-105035" lvl="1" marL="630000" rtl="0" algn="l">
              <a:spcBef>
                <a:spcPts val="1288"/>
              </a:spcBef>
              <a:spcAft>
                <a:spcPts val="0"/>
              </a:spcAft>
              <a:buSzPct val="92000"/>
              <a:buNone/>
            </a:pPr>
            <a:r>
              <a:t/>
            </a:r>
            <a:endParaRPr b="0" i="0" sz="8600">
              <a:solidFill>
                <a:srgbClr val="231F2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185875" lvl="2" marL="900000" rtl="0" algn="l">
              <a:spcBef>
                <a:spcPts val="888"/>
              </a:spcBef>
              <a:spcAft>
                <a:spcPts val="0"/>
              </a:spcAft>
              <a:buSzPct val="91999"/>
              <a:buNone/>
            </a:pPr>
            <a:r>
              <a:t/>
            </a:r>
            <a:endParaRPr sz="3600"/>
          </a:p>
          <a:p>
            <a:pPr indent="-263937" lvl="0" marL="306000" rtl="0" algn="l">
              <a:spcBef>
                <a:spcPts val="744"/>
              </a:spcBef>
              <a:spcAft>
                <a:spcPts val="0"/>
              </a:spcAft>
              <a:buSzPct val="91999"/>
              <a:buNone/>
            </a:pPr>
            <a:r>
              <a:t/>
            </a:r>
            <a:endParaRPr/>
          </a:p>
        </p:txBody>
      </p:sp>
      <p:sp>
        <p:nvSpPr>
          <p:cNvPr id="197" name="Google Shape;197;p26"/>
          <p:cNvSpPr txBox="1"/>
          <p:nvPr/>
        </p:nvSpPr>
        <p:spPr>
          <a:xfrm>
            <a:off x="85725" y="5786512"/>
            <a:ext cx="60960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2" marL="9144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Lower income =&gt; higher demand</a:t>
            </a:r>
            <a:endParaRPr/>
          </a:p>
        </p:txBody>
      </p:sp>
      <p:sp>
        <p:nvSpPr>
          <p:cNvPr id="198" name="Google Shape;198;p26"/>
          <p:cNvSpPr txBox="1"/>
          <p:nvPr/>
        </p:nvSpPr>
        <p:spPr>
          <a:xfrm>
            <a:off x="5362407" y="5786512"/>
            <a:ext cx="60960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2" marL="9144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Higher income =&gt; lower demand</a:t>
            </a:r>
            <a:endParaRPr/>
          </a:p>
          <a:p>
            <a:pPr indent="0" lvl="2" marL="9144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199" name="Google Shape;199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72153" y="3098975"/>
            <a:ext cx="3224297" cy="270378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he graph represents the directions for step 3. An increased income results in an increase in demand, which is shown by a rightward shift in the demand curve." id="200" name="Google Shape;200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33475" y="3218744"/>
            <a:ext cx="3714750" cy="2276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7"/>
          <p:cNvSpPr txBox="1"/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n-US"/>
              <a:t>PRICES OF RELATED GOODS</a:t>
            </a:r>
            <a:endParaRPr/>
          </a:p>
        </p:txBody>
      </p:sp>
      <p:sp>
        <p:nvSpPr>
          <p:cNvPr id="206" name="Google Shape;206;p27"/>
          <p:cNvSpPr txBox="1"/>
          <p:nvPr>
            <p:ph idx="1" type="body"/>
          </p:nvPr>
        </p:nvSpPr>
        <p:spPr>
          <a:xfrm>
            <a:off x="428792" y="1962150"/>
            <a:ext cx="11182016" cy="4429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47500" lnSpcReduction="20000"/>
          </a:bodyPr>
          <a:lstStyle/>
          <a:p>
            <a:pPr indent="-206101" lvl="0" marL="306000" rtl="0" algn="l">
              <a:spcBef>
                <a:spcPts val="0"/>
              </a:spcBef>
              <a:spcAft>
                <a:spcPts val="0"/>
              </a:spcAft>
              <a:buSzPct val="91999"/>
              <a:buNone/>
            </a:pPr>
            <a:r>
              <a:t/>
            </a:r>
            <a:endParaRPr sz="3600">
              <a:latin typeface="Cambria"/>
              <a:ea typeface="Cambria"/>
              <a:cs typeface="Cambria"/>
              <a:sym typeface="Cambria"/>
            </a:endParaRPr>
          </a:p>
          <a:p>
            <a:pPr indent="-131207" lvl="0" marL="306000" rtl="0" algn="l">
              <a:lnSpc>
                <a:spcPct val="90000"/>
              </a:lnSpc>
              <a:spcBef>
                <a:spcPts val="1198"/>
              </a:spcBef>
              <a:spcAft>
                <a:spcPts val="0"/>
              </a:spcAft>
              <a:buSzPct val="91999"/>
              <a:buNone/>
            </a:pPr>
            <a:r>
              <a:t/>
            </a:r>
            <a:endParaRPr sz="6300">
              <a:latin typeface="Cambria"/>
              <a:ea typeface="Cambria"/>
              <a:cs typeface="Cambria"/>
              <a:sym typeface="Cambria"/>
            </a:endParaRPr>
          </a:p>
          <a:p>
            <a:pPr indent="-306029" lvl="0" marL="306000" rtl="0" algn="l">
              <a:lnSpc>
                <a:spcPct val="90000"/>
              </a:lnSpc>
              <a:spcBef>
                <a:spcPts val="1198"/>
              </a:spcBef>
              <a:spcAft>
                <a:spcPts val="0"/>
              </a:spcAft>
              <a:buSzPct val="91999"/>
              <a:buChar char="◼"/>
            </a:pPr>
            <a:r>
              <a:rPr lang="en-US" sz="6300">
                <a:latin typeface="Cambria"/>
                <a:ea typeface="Cambria"/>
                <a:cs typeface="Cambria"/>
                <a:sym typeface="Cambria"/>
              </a:rPr>
              <a:t>Changes in the prices of related goods can increase or decrease demand.</a:t>
            </a:r>
            <a:endParaRPr/>
          </a:p>
          <a:p>
            <a:pPr indent="-306029" lvl="0" marL="306000" rtl="0" algn="l">
              <a:lnSpc>
                <a:spcPct val="90000"/>
              </a:lnSpc>
              <a:spcBef>
                <a:spcPts val="1198"/>
              </a:spcBef>
              <a:spcAft>
                <a:spcPts val="0"/>
              </a:spcAft>
              <a:buSzPct val="91999"/>
              <a:buChar char="◼"/>
            </a:pPr>
            <a:r>
              <a:rPr lang="en-US" sz="6300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rPr>
              <a:t>Substitute Goods:</a:t>
            </a:r>
            <a:r>
              <a:rPr lang="en-US" sz="6300">
                <a:latin typeface="Cambria"/>
                <a:ea typeface="Cambria"/>
                <a:cs typeface="Cambria"/>
                <a:sym typeface="Cambria"/>
              </a:rPr>
              <a:t> Two goods are substitute goods if an increase in price of one good causes an increase in the demand for another good.</a:t>
            </a:r>
            <a:endParaRPr/>
          </a:p>
          <a:p>
            <a:pPr indent="-306029" lvl="0" marL="306000" rtl="0" algn="l">
              <a:lnSpc>
                <a:spcPct val="90000"/>
              </a:lnSpc>
              <a:spcBef>
                <a:spcPts val="1198"/>
              </a:spcBef>
              <a:spcAft>
                <a:spcPts val="0"/>
              </a:spcAft>
              <a:buSzPct val="91999"/>
              <a:buChar char="◼"/>
            </a:pPr>
            <a:r>
              <a:rPr lang="en-US" sz="6300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rPr>
              <a:t>Complementary Goods: </a:t>
            </a:r>
            <a:r>
              <a:rPr lang="en-US" sz="6300">
                <a:latin typeface="Cambria"/>
                <a:ea typeface="Cambria"/>
                <a:cs typeface="Cambria"/>
                <a:sym typeface="Cambria"/>
              </a:rPr>
              <a:t>Two goods are complementary goods if an increase in price of one good causes a decrease in the demand for another good.</a:t>
            </a:r>
            <a:endParaRPr/>
          </a:p>
          <a:p>
            <a:pPr indent="0" lvl="1" marL="324000" rtl="0" algn="l">
              <a:spcBef>
                <a:spcPts val="1417"/>
              </a:spcBef>
              <a:spcAft>
                <a:spcPts val="0"/>
              </a:spcAft>
              <a:buSzPct val="92000"/>
              <a:buNone/>
            </a:pPr>
            <a:r>
              <a:t/>
            </a:r>
            <a:endParaRPr b="0" i="0" sz="8600">
              <a:solidFill>
                <a:srgbClr val="231F2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170101" lvl="2" marL="900000" rtl="0" algn="l">
              <a:spcBef>
                <a:spcPts val="942"/>
              </a:spcBef>
              <a:spcAft>
                <a:spcPts val="0"/>
              </a:spcAft>
              <a:buSzPct val="91999"/>
              <a:buNone/>
            </a:pPr>
            <a:r>
              <a:t/>
            </a:r>
            <a:endParaRPr sz="3600"/>
          </a:p>
          <a:p>
            <a:pPr indent="-256050" lvl="0" marL="306000" rtl="0" algn="l">
              <a:spcBef>
                <a:spcPts val="771"/>
              </a:spcBef>
              <a:spcAft>
                <a:spcPts val="0"/>
              </a:spcAft>
              <a:buSzPct val="91999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8"/>
          <p:cNvSpPr txBox="1"/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n-US"/>
              <a:t>PRICES OF RELATED GOODS</a:t>
            </a:r>
            <a:endParaRPr/>
          </a:p>
        </p:txBody>
      </p:sp>
      <p:sp>
        <p:nvSpPr>
          <p:cNvPr id="212" name="Google Shape;212;p28"/>
          <p:cNvSpPr txBox="1"/>
          <p:nvPr>
            <p:ph idx="1" type="body"/>
          </p:nvPr>
        </p:nvSpPr>
        <p:spPr>
          <a:xfrm>
            <a:off x="1071730" y="2221242"/>
            <a:ext cx="4724232" cy="1400175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1417" r="0" t="-15216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06000" lvl="0" marL="306000" rtl="0" algn="l">
              <a:spcBef>
                <a:spcPts val="0"/>
              </a:spcBef>
              <a:spcAft>
                <a:spcPts val="0"/>
              </a:spcAft>
              <a:buSzPts val="1656"/>
              <a:buChar char="◼"/>
            </a:pPr>
            <a:r>
              <a:rPr lang="en-US"/>
              <a:t> </a:t>
            </a:r>
            <a:endParaRPr/>
          </a:p>
        </p:txBody>
      </p:sp>
      <p:sp>
        <p:nvSpPr>
          <p:cNvPr id="213" name="Google Shape;213;p28"/>
          <p:cNvSpPr/>
          <p:nvPr/>
        </p:nvSpPr>
        <p:spPr>
          <a:xfrm>
            <a:off x="4381496" y="2141596"/>
            <a:ext cx="123825" cy="45482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rnd" cmpd="sng" w="22225">
            <a:solidFill>
              <a:srgbClr val="333C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14" name="Google Shape;214;p28"/>
          <p:cNvSpPr/>
          <p:nvPr/>
        </p:nvSpPr>
        <p:spPr>
          <a:xfrm>
            <a:off x="5026816" y="2141596"/>
            <a:ext cx="123825" cy="45482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rnd" cmpd="sng" w="22225">
            <a:solidFill>
              <a:srgbClr val="333C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15" name="Google Shape;215;p28"/>
          <p:cNvSpPr/>
          <p:nvPr/>
        </p:nvSpPr>
        <p:spPr>
          <a:xfrm flipH="1">
            <a:off x="5734049" y="2141596"/>
            <a:ext cx="123825" cy="45482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rnd" cmpd="sng" w="22225">
            <a:solidFill>
              <a:srgbClr val="333C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descr="The graph represents the directions for step 3. An increased income results in an increase in demand, which is shown by a rightward shift in the demand curve." id="216" name="Google Shape;216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42974" y="2716080"/>
            <a:ext cx="5313294" cy="3256096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8"/>
          <p:cNvSpPr txBox="1"/>
          <p:nvPr/>
        </p:nvSpPr>
        <p:spPr>
          <a:xfrm>
            <a:off x="6581775" y="2221242"/>
            <a:ext cx="4819650" cy="3552825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-1138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Gill Sans"/>
                <a:ea typeface="Gill Sans"/>
                <a:cs typeface="Gill Sans"/>
                <a:sym typeface="Gill Sans"/>
              </a:rPr>
              <a:t> 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9"/>
          <p:cNvSpPr txBox="1"/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n-US"/>
              <a:t>PRICES OF RELATED GOODS</a:t>
            </a:r>
            <a:endParaRPr/>
          </a:p>
        </p:txBody>
      </p:sp>
      <p:sp>
        <p:nvSpPr>
          <p:cNvPr id="223" name="Google Shape;223;p29"/>
          <p:cNvSpPr txBox="1"/>
          <p:nvPr>
            <p:ph idx="1" type="body"/>
          </p:nvPr>
        </p:nvSpPr>
        <p:spPr>
          <a:xfrm>
            <a:off x="1071730" y="2221242"/>
            <a:ext cx="4724232" cy="1400175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773" r="0" t="-4782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06000" lvl="0" marL="306000" rtl="0" algn="l">
              <a:spcBef>
                <a:spcPts val="0"/>
              </a:spcBef>
              <a:spcAft>
                <a:spcPts val="0"/>
              </a:spcAft>
              <a:buSzPts val="1656"/>
              <a:buChar char="◼"/>
            </a:pPr>
            <a:r>
              <a:rPr lang="en-US"/>
              <a:t> </a:t>
            </a:r>
            <a:endParaRPr/>
          </a:p>
        </p:txBody>
      </p:sp>
      <p:sp>
        <p:nvSpPr>
          <p:cNvPr id="224" name="Google Shape;224;p29"/>
          <p:cNvSpPr/>
          <p:nvPr/>
        </p:nvSpPr>
        <p:spPr>
          <a:xfrm>
            <a:off x="4381496" y="2141596"/>
            <a:ext cx="123825" cy="45482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rnd" cmpd="sng" w="22225">
            <a:solidFill>
              <a:srgbClr val="333C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25" name="Google Shape;225;p29"/>
          <p:cNvSpPr/>
          <p:nvPr/>
        </p:nvSpPr>
        <p:spPr>
          <a:xfrm>
            <a:off x="5026816" y="2141596"/>
            <a:ext cx="123825" cy="45482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rnd" cmpd="sng" w="22225">
            <a:solidFill>
              <a:srgbClr val="333C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26" name="Google Shape;226;p29"/>
          <p:cNvSpPr txBox="1"/>
          <p:nvPr/>
        </p:nvSpPr>
        <p:spPr>
          <a:xfrm>
            <a:off x="6419855" y="2389973"/>
            <a:ext cx="4819650" cy="3552825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-101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Gill Sans"/>
                <a:ea typeface="Gill Sans"/>
                <a:cs typeface="Gill Sans"/>
                <a:sym typeface="Gill Sans"/>
              </a:rPr>
              <a:t> </a:t>
            </a:r>
            <a:endParaRPr/>
          </a:p>
        </p:txBody>
      </p:sp>
      <p:sp>
        <p:nvSpPr>
          <p:cNvPr id="227" name="Google Shape;227;p29"/>
          <p:cNvSpPr/>
          <p:nvPr/>
        </p:nvSpPr>
        <p:spPr>
          <a:xfrm>
            <a:off x="5712621" y="2141596"/>
            <a:ext cx="145254" cy="45482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rnd" cmpd="sng" w="22225">
            <a:solidFill>
              <a:srgbClr val="333C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228" name="Google Shape;228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564394" y="2844527"/>
            <a:ext cx="4293481" cy="36175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0"/>
          <p:cNvSpPr txBox="1"/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7931D"/>
              </a:buClr>
              <a:buSzPts val="2800"/>
              <a:buFont typeface="Arial"/>
              <a:buNone/>
            </a:pPr>
            <a:r>
              <a:rPr b="0" i="0" lang="en-US">
                <a:solidFill>
                  <a:srgbClr val="F7931D"/>
                </a:solidFill>
                <a:latin typeface="Arial"/>
                <a:ea typeface="Arial"/>
                <a:cs typeface="Arial"/>
                <a:sym typeface="Arial"/>
              </a:rPr>
              <a:t>TASTES AND PREFERENCES</a:t>
            </a:r>
            <a:endParaRPr/>
          </a:p>
        </p:txBody>
      </p:sp>
      <p:sp>
        <p:nvSpPr>
          <p:cNvPr id="234" name="Google Shape;234;p30"/>
          <p:cNvSpPr txBox="1"/>
          <p:nvPr>
            <p:ph idx="1" type="body"/>
          </p:nvPr>
        </p:nvSpPr>
        <p:spPr>
          <a:xfrm>
            <a:off x="428791" y="1962151"/>
            <a:ext cx="11029616" cy="1724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47500" lnSpcReduction="20000"/>
          </a:bodyPr>
          <a:lstStyle/>
          <a:p>
            <a:pPr indent="-206101" lvl="0" marL="306000" rtl="0" algn="l">
              <a:spcBef>
                <a:spcPts val="0"/>
              </a:spcBef>
              <a:spcAft>
                <a:spcPts val="0"/>
              </a:spcAft>
              <a:buSzPct val="91999"/>
              <a:buNone/>
            </a:pPr>
            <a:r>
              <a:t/>
            </a:r>
            <a:endParaRPr sz="3600">
              <a:latin typeface="Cambria"/>
              <a:ea typeface="Cambria"/>
              <a:cs typeface="Cambria"/>
              <a:sym typeface="Cambria"/>
            </a:endParaRPr>
          </a:p>
          <a:p>
            <a:pPr indent="-305999" lvl="0" marL="306000" rtl="0" algn="l">
              <a:spcBef>
                <a:spcPts val="1436"/>
              </a:spcBef>
              <a:spcAft>
                <a:spcPts val="0"/>
              </a:spcAft>
              <a:buSzPct val="92000"/>
              <a:buChar char="◼"/>
            </a:pPr>
            <a:r>
              <a:rPr lang="en-US" sz="8800"/>
              <a:t>Demand curve can shifts due to changes in tastes over time.</a:t>
            </a:r>
            <a:endParaRPr/>
          </a:p>
          <a:p>
            <a:pPr indent="-67354" lvl="1" marL="630000" rtl="0" algn="l">
              <a:spcBef>
                <a:spcPts val="1417"/>
              </a:spcBef>
              <a:spcAft>
                <a:spcPts val="0"/>
              </a:spcAft>
              <a:buSzPct val="92000"/>
              <a:buNone/>
            </a:pPr>
            <a:r>
              <a:t/>
            </a:r>
            <a:endParaRPr b="0" i="0" sz="8600">
              <a:solidFill>
                <a:srgbClr val="231F2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170101" lvl="2" marL="900000" rtl="0" algn="l">
              <a:spcBef>
                <a:spcPts val="942"/>
              </a:spcBef>
              <a:spcAft>
                <a:spcPts val="0"/>
              </a:spcAft>
              <a:buSzPct val="91999"/>
              <a:buNone/>
            </a:pPr>
            <a:r>
              <a:t/>
            </a:r>
            <a:endParaRPr sz="3600"/>
          </a:p>
          <a:p>
            <a:pPr indent="-256050" lvl="0" marL="306000" rtl="0" algn="l">
              <a:spcBef>
                <a:spcPts val="771"/>
              </a:spcBef>
              <a:spcAft>
                <a:spcPts val="0"/>
              </a:spcAft>
              <a:buSzPct val="91999"/>
              <a:buNone/>
            </a:pPr>
            <a:r>
              <a:t/>
            </a:r>
            <a:endParaRPr/>
          </a:p>
        </p:txBody>
      </p:sp>
      <p:sp>
        <p:nvSpPr>
          <p:cNvPr id="235" name="Google Shape;235;p30"/>
          <p:cNvSpPr txBox="1"/>
          <p:nvPr/>
        </p:nvSpPr>
        <p:spPr>
          <a:xfrm>
            <a:off x="85725" y="5786512"/>
            <a:ext cx="545782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2" marL="9144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Favorable change in taste =&gt; higher demand</a:t>
            </a:r>
            <a:endParaRPr/>
          </a:p>
        </p:txBody>
      </p:sp>
      <p:sp>
        <p:nvSpPr>
          <p:cNvPr id="236" name="Google Shape;236;p30"/>
          <p:cNvSpPr txBox="1"/>
          <p:nvPr/>
        </p:nvSpPr>
        <p:spPr>
          <a:xfrm>
            <a:off x="5362407" y="5786512"/>
            <a:ext cx="60960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2" marL="9144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Unfavorable change in taste =&gt; lower demand</a:t>
            </a:r>
            <a:endParaRPr/>
          </a:p>
          <a:p>
            <a:pPr indent="0" lvl="2" marL="9144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237" name="Google Shape;237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72153" y="3098975"/>
            <a:ext cx="3224297" cy="270378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he graph represents the directions for step 3. An increased income results in an increase in demand, which is shown by a rightward shift in the demand curve." id="238" name="Google Shape;238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33475" y="3218744"/>
            <a:ext cx="3714750" cy="2276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1"/>
          <p:cNvSpPr txBox="1"/>
          <p:nvPr>
            <p:ph type="title"/>
          </p:nvPr>
        </p:nvSpPr>
        <p:spPr>
          <a:xfrm>
            <a:off x="428791" y="702156"/>
            <a:ext cx="11182017" cy="101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ambria"/>
              <a:buNone/>
            </a:pPr>
            <a:r>
              <a:rPr b="1" lang="en-US" sz="2800">
                <a:latin typeface="Cambria"/>
                <a:ea typeface="Cambria"/>
                <a:cs typeface="Cambria"/>
                <a:sym typeface="Cambria"/>
              </a:rPr>
              <a:t>EXPECTATIONS ABOUT FUTURE PRICES AND MARKET CONDITIONS</a:t>
            </a:r>
            <a:endParaRPr/>
          </a:p>
        </p:txBody>
      </p:sp>
      <p:sp>
        <p:nvSpPr>
          <p:cNvPr id="244" name="Google Shape;244;p31"/>
          <p:cNvSpPr txBox="1"/>
          <p:nvPr>
            <p:ph idx="1" type="body"/>
          </p:nvPr>
        </p:nvSpPr>
        <p:spPr>
          <a:xfrm>
            <a:off x="428791" y="1962151"/>
            <a:ext cx="11029616" cy="1724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32500" lnSpcReduction="20000"/>
          </a:bodyPr>
          <a:lstStyle/>
          <a:p>
            <a:pPr indent="-237648" lvl="0" marL="306000" rtl="0" algn="l">
              <a:spcBef>
                <a:spcPts val="0"/>
              </a:spcBef>
              <a:spcAft>
                <a:spcPts val="0"/>
              </a:spcAft>
              <a:buSzPct val="91999"/>
              <a:buNone/>
            </a:pPr>
            <a:r>
              <a:t/>
            </a:r>
            <a:endParaRPr sz="3600">
              <a:latin typeface="Cambria"/>
              <a:ea typeface="Cambria"/>
              <a:cs typeface="Cambria"/>
              <a:sym typeface="Cambria"/>
            </a:endParaRPr>
          </a:p>
          <a:p>
            <a:pPr indent="-306000" lvl="0" marL="306000" rtl="0" algn="l">
              <a:spcBef>
                <a:spcPts val="1172"/>
              </a:spcBef>
              <a:spcAft>
                <a:spcPts val="0"/>
              </a:spcAft>
              <a:buSzPct val="92000"/>
              <a:buChar char="◼"/>
            </a:pPr>
            <a:r>
              <a:rPr lang="en-US" sz="8800"/>
              <a:t>Demand curve can shifts due to changes in expectations. </a:t>
            </a:r>
            <a:endParaRPr/>
          </a:p>
          <a:p>
            <a:pPr indent="-306000" lvl="0" marL="306000" rtl="0" algn="l">
              <a:spcBef>
                <a:spcPts val="1172"/>
              </a:spcBef>
              <a:spcAft>
                <a:spcPts val="0"/>
              </a:spcAft>
              <a:buSzPct val="92000"/>
              <a:buChar char="◼"/>
            </a:pPr>
            <a:r>
              <a:rPr b="0" i="0" lang="en-US" sz="8800">
                <a:solidFill>
                  <a:srgbClr val="231F20"/>
                </a:solidFill>
                <a:latin typeface="Arial"/>
                <a:ea typeface="Arial"/>
                <a:cs typeface="Arial"/>
                <a:sym typeface="Arial"/>
              </a:rPr>
              <a:t>For example, if you expect the price of computers to fall soon, you may put off buying one until later.</a:t>
            </a:r>
            <a:endParaRPr sz="8800"/>
          </a:p>
          <a:p>
            <a:pPr indent="-142716" lvl="1" marL="630000" rtl="0" algn="l">
              <a:spcBef>
                <a:spcPts val="1159"/>
              </a:spcBef>
              <a:spcAft>
                <a:spcPts val="0"/>
              </a:spcAft>
              <a:buSzPct val="92000"/>
              <a:buNone/>
            </a:pPr>
            <a:r>
              <a:t/>
            </a:r>
            <a:endParaRPr b="0" i="0" sz="8600">
              <a:solidFill>
                <a:srgbClr val="231F2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201648" lvl="2" marL="900000" rtl="0" algn="l">
              <a:spcBef>
                <a:spcPts val="834"/>
              </a:spcBef>
              <a:spcAft>
                <a:spcPts val="0"/>
              </a:spcAft>
              <a:buSzPct val="91999"/>
              <a:buNone/>
            </a:pPr>
            <a:r>
              <a:t/>
            </a:r>
            <a:endParaRPr sz="3600"/>
          </a:p>
          <a:p>
            <a:pPr indent="-271824" lvl="0" marL="306000" rtl="0" algn="l">
              <a:spcBef>
                <a:spcPts val="717"/>
              </a:spcBef>
              <a:spcAft>
                <a:spcPts val="0"/>
              </a:spcAft>
              <a:buSzPct val="91999"/>
              <a:buNone/>
            </a:pPr>
            <a:r>
              <a:t/>
            </a:r>
            <a:endParaRPr/>
          </a:p>
        </p:txBody>
      </p:sp>
      <p:sp>
        <p:nvSpPr>
          <p:cNvPr id="245" name="Google Shape;245;p31"/>
          <p:cNvSpPr txBox="1"/>
          <p:nvPr/>
        </p:nvSpPr>
        <p:spPr>
          <a:xfrm>
            <a:off x="85725" y="5786512"/>
            <a:ext cx="545782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2" marL="9144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Positive expectation=&gt; higher demand</a:t>
            </a:r>
            <a:endParaRPr/>
          </a:p>
        </p:txBody>
      </p:sp>
      <p:sp>
        <p:nvSpPr>
          <p:cNvPr id="246" name="Google Shape;246;p31"/>
          <p:cNvSpPr txBox="1"/>
          <p:nvPr/>
        </p:nvSpPr>
        <p:spPr>
          <a:xfrm>
            <a:off x="5362407" y="5786512"/>
            <a:ext cx="60960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2" marL="9144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Negative expectation=&gt; lower demand</a:t>
            </a:r>
            <a:endParaRPr/>
          </a:p>
          <a:p>
            <a:pPr indent="0" lvl="2" marL="9144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247" name="Google Shape;247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72153" y="3098975"/>
            <a:ext cx="3224297" cy="270378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he graph represents the directions for step 3. An increased income results in an increase in demand, which is shown by a rightward shift in the demand curve." id="248" name="Google Shape;248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71575" y="3429000"/>
            <a:ext cx="3714750" cy="2276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2"/>
          <p:cNvSpPr txBox="1"/>
          <p:nvPr>
            <p:ph type="title"/>
          </p:nvPr>
        </p:nvSpPr>
        <p:spPr>
          <a:xfrm>
            <a:off x="428791" y="702156"/>
            <a:ext cx="11182017" cy="101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ambria"/>
              <a:buNone/>
            </a:pPr>
            <a:r>
              <a:rPr b="1" lang="en-US" sz="2800">
                <a:latin typeface="Cambria"/>
                <a:ea typeface="Cambria"/>
                <a:cs typeface="Cambria"/>
                <a:sym typeface="Cambria"/>
              </a:rPr>
              <a:t>POPULATION/ NO OF CONSUMERS</a:t>
            </a:r>
            <a:endParaRPr/>
          </a:p>
        </p:txBody>
      </p:sp>
      <p:sp>
        <p:nvSpPr>
          <p:cNvPr id="254" name="Google Shape;254;p32"/>
          <p:cNvSpPr txBox="1"/>
          <p:nvPr>
            <p:ph idx="1" type="body"/>
          </p:nvPr>
        </p:nvSpPr>
        <p:spPr>
          <a:xfrm>
            <a:off x="428791" y="1962151"/>
            <a:ext cx="11029616" cy="1724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47500" lnSpcReduction="20000"/>
          </a:bodyPr>
          <a:lstStyle/>
          <a:p>
            <a:pPr indent="-206101" lvl="0" marL="306000" rtl="0" algn="l">
              <a:spcBef>
                <a:spcPts val="0"/>
              </a:spcBef>
              <a:spcAft>
                <a:spcPts val="0"/>
              </a:spcAft>
              <a:buSzPct val="91999"/>
              <a:buNone/>
            </a:pPr>
            <a:r>
              <a:t/>
            </a:r>
            <a:endParaRPr sz="3600">
              <a:latin typeface="Cambria"/>
              <a:ea typeface="Cambria"/>
              <a:cs typeface="Cambria"/>
              <a:sym typeface="Cambria"/>
            </a:endParaRPr>
          </a:p>
          <a:p>
            <a:pPr indent="-305999" lvl="0" marL="306000" rtl="0" algn="l">
              <a:spcBef>
                <a:spcPts val="1436"/>
              </a:spcBef>
              <a:spcAft>
                <a:spcPts val="0"/>
              </a:spcAft>
              <a:buSzPct val="92000"/>
              <a:buChar char="◼"/>
            </a:pPr>
            <a:r>
              <a:rPr lang="en-US" sz="8800"/>
              <a:t>Demand curve can shifts due to changes in population/ no of consumers. </a:t>
            </a:r>
            <a:endParaRPr/>
          </a:p>
          <a:p>
            <a:pPr indent="-67354" lvl="1" marL="630000" rtl="0" algn="l">
              <a:spcBef>
                <a:spcPts val="1417"/>
              </a:spcBef>
              <a:spcAft>
                <a:spcPts val="0"/>
              </a:spcAft>
              <a:buSzPct val="92000"/>
              <a:buNone/>
            </a:pPr>
            <a:r>
              <a:t/>
            </a:r>
            <a:endParaRPr b="0" i="0" sz="8600">
              <a:solidFill>
                <a:srgbClr val="231F2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170101" lvl="2" marL="900000" rtl="0" algn="l">
              <a:spcBef>
                <a:spcPts val="942"/>
              </a:spcBef>
              <a:spcAft>
                <a:spcPts val="0"/>
              </a:spcAft>
              <a:buSzPct val="91999"/>
              <a:buNone/>
            </a:pPr>
            <a:r>
              <a:t/>
            </a:r>
            <a:endParaRPr sz="3600"/>
          </a:p>
          <a:p>
            <a:pPr indent="-256050" lvl="0" marL="306000" rtl="0" algn="l">
              <a:spcBef>
                <a:spcPts val="771"/>
              </a:spcBef>
              <a:spcAft>
                <a:spcPts val="0"/>
              </a:spcAft>
              <a:buSzPct val="91999"/>
              <a:buNone/>
            </a:pPr>
            <a:r>
              <a:t/>
            </a:r>
            <a:endParaRPr/>
          </a:p>
        </p:txBody>
      </p:sp>
      <p:sp>
        <p:nvSpPr>
          <p:cNvPr id="255" name="Google Shape;255;p32"/>
          <p:cNvSpPr txBox="1"/>
          <p:nvPr/>
        </p:nvSpPr>
        <p:spPr>
          <a:xfrm>
            <a:off x="85725" y="5786512"/>
            <a:ext cx="5457825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2" marL="9144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Increase in population/no of consumers  =&gt; higher demand</a:t>
            </a:r>
            <a:endParaRPr/>
          </a:p>
        </p:txBody>
      </p:sp>
      <p:sp>
        <p:nvSpPr>
          <p:cNvPr id="256" name="Google Shape;256;p32"/>
          <p:cNvSpPr txBox="1"/>
          <p:nvPr/>
        </p:nvSpPr>
        <p:spPr>
          <a:xfrm>
            <a:off x="5362407" y="5786512"/>
            <a:ext cx="6096000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2" marL="9144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decrease in population/no of consumers =&gt; lower demand</a:t>
            </a:r>
            <a:endParaRPr/>
          </a:p>
          <a:p>
            <a:pPr indent="0" lvl="2" marL="9144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257" name="Google Shape;257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72153" y="3098975"/>
            <a:ext cx="3224297" cy="270378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he graph represents the directions for step 3. An increased income results in an increase in demand, which is shown by a rightward shift in the demand curve." id="258" name="Google Shape;258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71575" y="3429000"/>
            <a:ext cx="3714750" cy="2276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ividend">
  <a:themeElements>
    <a:clrScheme name="Dividend">
      <a:dk1>
        <a:srgbClr val="000000"/>
      </a:dk1>
      <a:lt1>
        <a:srgbClr val="FFFFFF"/>
      </a:lt1>
      <a:dk2>
        <a:srgbClr val="3D3D3D"/>
      </a:dk2>
      <a:lt2>
        <a:srgbClr val="EBEBEB"/>
      </a:lt2>
      <a:accent1>
        <a:srgbClr val="465359"/>
      </a:accent1>
      <a:accent2>
        <a:srgbClr val="ED8428"/>
      </a:accent2>
      <a:accent3>
        <a:srgbClr val="E6C46D"/>
      </a:accent3>
      <a:accent4>
        <a:srgbClr val="969FA7"/>
      </a:accent4>
      <a:accent5>
        <a:srgbClr val="A9C37C"/>
      </a:accent5>
      <a:accent6>
        <a:srgbClr val="5A8071"/>
      </a:accent6>
      <a:hlink>
        <a:srgbClr val="828282"/>
      </a:hlink>
      <a:folHlink>
        <a:srgbClr val="A5A5A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
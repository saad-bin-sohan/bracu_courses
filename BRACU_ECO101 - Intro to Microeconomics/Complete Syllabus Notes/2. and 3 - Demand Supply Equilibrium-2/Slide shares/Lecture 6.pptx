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Gill Sans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GillSans-bold.fntdata"/><Relationship Id="rId6" Type="http://schemas.openxmlformats.org/officeDocument/2006/relationships/slide" Target="slides/slide2.xml"/><Relationship Id="rId18" Type="http://schemas.openxmlformats.org/officeDocument/2006/relationships/font" Target="fonts/Gill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9" name="Google Shape;49;p6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9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6C8089"/>
              </a:buClr>
              <a:buSzPts val="2000"/>
              <a:buFont typeface="Gill Sans"/>
              <a:buNone/>
              <a:defRPr b="0" sz="2000"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3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2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jp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lang="en-US"/>
              <a:t>LECTURE 6: DETERMINANTS AND FACTORS AFFECTING DEMAND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581191" y="57802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DETERMINANTS OF DEMAND</a:t>
            </a:r>
            <a:endParaRPr/>
          </a:p>
        </p:txBody>
      </p:sp>
      <p:pic>
        <p:nvPicPr>
          <p:cNvPr id="102" name="Google Shape;102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2575" y="1941513"/>
            <a:ext cx="9001125" cy="4687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PRICE</a:t>
            </a:r>
            <a:endParaRPr/>
          </a:p>
        </p:txBody>
      </p:sp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581193" y="2180496"/>
            <a:ext cx="4848058" cy="3867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154108" lvl="0" marL="306000" rtl="0" algn="l">
              <a:spcBef>
                <a:spcPts val="0"/>
              </a:spcBef>
              <a:spcAft>
                <a:spcPts val="0"/>
              </a:spcAft>
              <a:buSzPts val="2392"/>
              <a:buNone/>
            </a:pPr>
            <a:r>
              <a:t/>
            </a:r>
            <a:endParaRPr sz="2600"/>
          </a:p>
          <a:p>
            <a:pPr indent="-306000" lvl="0" marL="306000" rtl="0" algn="l">
              <a:spcBef>
                <a:spcPts val="1120"/>
              </a:spcBef>
              <a:spcAft>
                <a:spcPts val="0"/>
              </a:spcAft>
              <a:buSzPts val="2392"/>
              <a:buChar char="◼"/>
            </a:pPr>
            <a:r>
              <a:rPr lang="en-US" sz="2600"/>
              <a:t>Price is the most important determinant of demand.</a:t>
            </a:r>
            <a:endParaRPr/>
          </a:p>
          <a:p>
            <a:pPr indent="-306000" lvl="0" marL="306000" rtl="0" algn="l">
              <a:spcBef>
                <a:spcPts val="1120"/>
              </a:spcBef>
              <a:spcAft>
                <a:spcPts val="0"/>
              </a:spcAft>
              <a:buSzPts val="2392"/>
              <a:buChar char="◼"/>
            </a:pPr>
            <a:r>
              <a:rPr lang="en-US" sz="2600"/>
              <a:t>A “demand curve” plots combinations of prices and quantity demanded.</a:t>
            </a:r>
            <a:endParaRPr/>
          </a:p>
          <a:p>
            <a:pPr indent="-306000" lvl="0" marL="306000" rtl="0" algn="l">
              <a:spcBef>
                <a:spcPts val="1120"/>
              </a:spcBef>
              <a:spcAft>
                <a:spcPts val="0"/>
              </a:spcAft>
              <a:buSzPts val="2392"/>
              <a:buChar char="◼"/>
            </a:pPr>
            <a:r>
              <a:rPr lang="en-US" sz="2600"/>
              <a:t>A change in price causes a movement </a:t>
            </a:r>
            <a:r>
              <a:rPr lang="en-US" sz="2600" u="sng"/>
              <a:t>along</a:t>
            </a:r>
            <a:r>
              <a:rPr lang="en-US" sz="2600"/>
              <a:t> the demand curve</a:t>
            </a:r>
            <a:endParaRPr/>
          </a:p>
          <a:p>
            <a:pPr indent="-200844" lvl="0" marL="30600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  <a:p>
            <a:pPr indent="-200844" lvl="0" marL="30600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pic>
        <p:nvPicPr>
          <p:cNvPr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180496"/>
            <a:ext cx="4667250" cy="375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FACTORS AFFECTING DEMAND (OR, SHIFT FACTORS OF DEMAND)</a:t>
            </a:r>
            <a:endParaRPr/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581192" y="2180496"/>
            <a:ext cx="10829757" cy="3975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2760"/>
              <a:buChar char="◼"/>
            </a:pPr>
            <a:r>
              <a:rPr b="1" lang="en-US" sz="3000">
                <a:latin typeface="Cambria"/>
                <a:ea typeface="Cambria"/>
                <a:cs typeface="Cambria"/>
                <a:sym typeface="Cambria"/>
              </a:rPr>
              <a:t>1. Income</a:t>
            </a:r>
            <a:endParaRPr/>
          </a:p>
          <a:p>
            <a:pPr indent="-306000" lvl="0" marL="306000" rtl="0" algn="l"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b="1" lang="en-US" sz="3000">
                <a:latin typeface="Cambria"/>
                <a:ea typeface="Cambria"/>
                <a:cs typeface="Cambria"/>
                <a:sym typeface="Cambria"/>
              </a:rPr>
              <a:t>2. The Prices of Related Goods</a:t>
            </a:r>
            <a:endParaRPr/>
          </a:p>
          <a:p>
            <a:pPr indent="-306000" lvl="0" marL="306000" rtl="0" algn="l"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b="1" lang="en-US" sz="3000">
                <a:latin typeface="Cambria"/>
                <a:ea typeface="Cambria"/>
                <a:cs typeface="Cambria"/>
                <a:sym typeface="Cambria"/>
              </a:rPr>
              <a:t>3. Tastes and Preferences</a:t>
            </a:r>
            <a:endParaRPr/>
          </a:p>
          <a:p>
            <a:pPr indent="-306000" lvl="0" marL="306000" rtl="0" algn="l"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b="1" lang="en-US" sz="3000">
                <a:latin typeface="Cambria"/>
                <a:ea typeface="Cambria"/>
                <a:cs typeface="Cambria"/>
                <a:sym typeface="Cambria"/>
              </a:rPr>
              <a:t>4. Expectations about Future Prices and Market Conditions</a:t>
            </a:r>
            <a:endParaRPr b="1" sz="3000">
              <a:latin typeface="Cambria"/>
              <a:ea typeface="Cambria"/>
              <a:cs typeface="Cambria"/>
              <a:sym typeface="Cambria"/>
            </a:endParaRPr>
          </a:p>
          <a:p>
            <a:pPr indent="-306000" lvl="0" marL="306000" rtl="0" algn="l"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b="1" lang="en-US" sz="3000">
                <a:latin typeface="Cambria"/>
                <a:ea typeface="Cambria"/>
                <a:cs typeface="Cambria"/>
                <a:sym typeface="Cambria"/>
              </a:rPr>
              <a:t>5. Population/ No of Consumers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INCOME</a:t>
            </a:r>
            <a:endParaRPr/>
          </a:p>
        </p:txBody>
      </p:sp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428792" y="2180496"/>
            <a:ext cx="11182016" cy="3975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42424" lvl="0" marL="306000" rtl="0" algn="l">
              <a:spcBef>
                <a:spcPts val="0"/>
              </a:spcBef>
              <a:spcAft>
                <a:spcPts val="0"/>
              </a:spcAft>
              <a:buSzPts val="2576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-306000" lvl="0" marL="306000" rtl="0" algn="l">
              <a:spcBef>
                <a:spcPts val="1160"/>
              </a:spcBef>
              <a:spcAft>
                <a:spcPts val="0"/>
              </a:spcAft>
              <a:buSzPts val="2576"/>
              <a:buChar char="◼"/>
            </a:pPr>
            <a:r>
              <a:rPr lang="en-US" sz="2800">
                <a:latin typeface="Cambria"/>
                <a:ea typeface="Cambria"/>
                <a:cs typeface="Cambria"/>
                <a:sym typeface="Cambria"/>
              </a:rPr>
              <a:t>Ceteris paribus, when people’s income changes, demand change (shifts in demand)</a:t>
            </a:r>
            <a:endParaRPr/>
          </a:p>
          <a:p>
            <a:pPr indent="-306000" lvl="0" marL="306000" rtl="0" algn="l">
              <a:spcBef>
                <a:spcPts val="1160"/>
              </a:spcBef>
              <a:spcAft>
                <a:spcPts val="0"/>
              </a:spcAft>
              <a:buSzPts val="2576"/>
              <a:buChar char="◼"/>
            </a:pPr>
            <a:r>
              <a:rPr lang="en-US" sz="28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Normal Goods </a:t>
            </a:r>
            <a:r>
              <a:rPr lang="en-US" sz="2800">
                <a:latin typeface="Cambria"/>
                <a:ea typeface="Cambria"/>
                <a:cs typeface="Cambria"/>
                <a:sym typeface="Cambria"/>
              </a:rPr>
              <a:t>– </a:t>
            </a:r>
            <a:r>
              <a:rPr lang="en-US" sz="2800"/>
              <a:t>A good whose demand increases with an increase in income is called a “normal good.”</a:t>
            </a:r>
            <a:endParaRPr/>
          </a:p>
          <a:p>
            <a:pPr indent="-306000" lvl="0" marL="30600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2576"/>
              <a:buChar char="◼"/>
            </a:pPr>
            <a:r>
              <a:rPr lang="en-US" sz="28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Inferior Goods </a:t>
            </a:r>
            <a:r>
              <a:rPr lang="en-US" sz="2800">
                <a:latin typeface="Cambria"/>
                <a:ea typeface="Cambria"/>
                <a:cs typeface="Cambria"/>
                <a:sym typeface="Cambria"/>
              </a:rPr>
              <a:t>–</a:t>
            </a:r>
            <a:r>
              <a:rPr lang="en-US" sz="2800"/>
              <a:t>A good whose demand decreases with an increase in income is called an “inferior good.”</a:t>
            </a:r>
            <a:endParaRPr/>
          </a:p>
          <a:p>
            <a:pPr indent="-106423" lvl="2" marL="900000" rtl="0" algn="l"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t/>
            </a:r>
            <a:endParaRPr sz="2800"/>
          </a:p>
          <a:p>
            <a:pPr indent="-142424" lvl="0" marL="306000" rtl="0" algn="l"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INCOME</a:t>
            </a:r>
            <a:endParaRPr/>
          </a:p>
        </p:txBody>
      </p:sp>
      <p:sp>
        <p:nvSpPr>
          <p:cNvPr id="127" name="Google Shape;127;p18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0000" lnSpcReduction="20000"/>
          </a:bodyPr>
          <a:lstStyle/>
          <a:p>
            <a:pPr indent="-221875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5999" lvl="0" marL="306000" rtl="0" algn="l">
              <a:spcBef>
                <a:spcPts val="1288"/>
              </a:spcBef>
              <a:spcAft>
                <a:spcPts val="0"/>
              </a:spcAft>
              <a:buSzPct val="92000"/>
              <a:buChar char="◼"/>
            </a:pPr>
            <a:r>
              <a:rPr lang="en-US" sz="86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Normal Goods </a:t>
            </a:r>
            <a:r>
              <a:rPr lang="en-US" sz="8600">
                <a:latin typeface="Cambria"/>
                <a:ea typeface="Cambria"/>
                <a:cs typeface="Cambria"/>
                <a:sym typeface="Cambria"/>
              </a:rPr>
              <a:t>– For normal goods d</a:t>
            </a:r>
            <a:r>
              <a:rPr b="0" i="0" lang="en-US" sz="8600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emand increases with an increase in income or vice-versa.</a:t>
            </a:r>
            <a:endParaRPr/>
          </a:p>
          <a:p>
            <a:pPr indent="-105035" lvl="1" marL="630000" rtl="0" algn="l">
              <a:spcBef>
                <a:spcPts val="1288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85875" lvl="2" marL="900000" rtl="0" algn="l">
              <a:spcBef>
                <a:spcPts val="888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63937" lvl="0" marL="306000" rtl="0" algn="l">
              <a:spcBef>
                <a:spcPts val="744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85725" y="578651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Higher income =&gt; higher demand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5362407" y="578651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Lower income =&gt; lower demand</a:t>
            </a:r>
            <a:endParaRPr/>
          </a:p>
        </p:txBody>
      </p:sp>
      <p:pic>
        <p:nvPicPr>
          <p:cNvPr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131" name="Google Shape;13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3218744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INCOME</a:t>
            </a:r>
            <a:endParaRPr/>
          </a:p>
        </p:txBody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0000" lnSpcReduction="20000"/>
          </a:bodyPr>
          <a:lstStyle/>
          <a:p>
            <a:pPr indent="-221875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5999" lvl="0" marL="306000" rtl="0" algn="l">
              <a:spcBef>
                <a:spcPts val="1288"/>
              </a:spcBef>
              <a:spcAft>
                <a:spcPts val="0"/>
              </a:spcAft>
              <a:buSzPct val="92000"/>
              <a:buChar char="◼"/>
            </a:pPr>
            <a:r>
              <a:rPr lang="en-US" sz="86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Inferior Goods </a:t>
            </a:r>
            <a:r>
              <a:rPr lang="en-US" sz="8600">
                <a:latin typeface="Cambria"/>
                <a:ea typeface="Cambria"/>
                <a:cs typeface="Cambria"/>
                <a:sym typeface="Cambria"/>
              </a:rPr>
              <a:t>–For inferior goods d</a:t>
            </a:r>
            <a:r>
              <a:rPr b="0" i="0" lang="en-US" sz="8600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emand decreases with an increase in income or vice-versa.</a:t>
            </a:r>
            <a:endParaRPr/>
          </a:p>
          <a:p>
            <a:pPr indent="-105035" lvl="1" marL="630000" rtl="0" algn="l">
              <a:spcBef>
                <a:spcPts val="1288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85875" lvl="2" marL="900000" rtl="0" algn="l">
              <a:spcBef>
                <a:spcPts val="888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63937" lvl="0" marL="306000" rtl="0" algn="l">
              <a:spcBef>
                <a:spcPts val="744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85725" y="578651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Lower income =&gt; higher demand</a:t>
            </a: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5362407" y="5786512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Higher income =&gt; lower demand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141" name="Google Shape;14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3218744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PRICES OF RELATED GOODS</a:t>
            </a:r>
            <a:endParaRPr/>
          </a:p>
        </p:txBody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428792" y="1962150"/>
            <a:ext cx="11182016" cy="442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-206101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131207" lvl="0" marL="306000" rtl="0" algn="l">
              <a:lnSpc>
                <a:spcPct val="90000"/>
              </a:lnSpc>
              <a:spcBef>
                <a:spcPts val="1198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6300">
              <a:latin typeface="Cambria"/>
              <a:ea typeface="Cambria"/>
              <a:cs typeface="Cambria"/>
              <a:sym typeface="Cambria"/>
            </a:endParaRPr>
          </a:p>
          <a:p>
            <a:pPr indent="-306029" lvl="0" marL="306000" rtl="0" algn="l">
              <a:lnSpc>
                <a:spcPct val="90000"/>
              </a:lnSpc>
              <a:spcBef>
                <a:spcPts val="1198"/>
              </a:spcBef>
              <a:spcAft>
                <a:spcPts val="0"/>
              </a:spcAft>
              <a:buSzPct val="91999"/>
              <a:buChar char="◼"/>
            </a:pPr>
            <a:r>
              <a:rPr lang="en-US" sz="6300">
                <a:latin typeface="Cambria"/>
                <a:ea typeface="Cambria"/>
                <a:cs typeface="Cambria"/>
                <a:sym typeface="Cambria"/>
              </a:rPr>
              <a:t>Changes in the prices of related goods can increase or decrease demand.</a:t>
            </a:r>
            <a:endParaRPr/>
          </a:p>
          <a:p>
            <a:pPr indent="-306029" lvl="0" marL="306000" rtl="0" algn="l">
              <a:lnSpc>
                <a:spcPct val="90000"/>
              </a:lnSpc>
              <a:spcBef>
                <a:spcPts val="1198"/>
              </a:spcBef>
              <a:spcAft>
                <a:spcPts val="0"/>
              </a:spcAft>
              <a:buSzPct val="91999"/>
              <a:buChar char="◼"/>
            </a:pPr>
            <a:r>
              <a:rPr lang="en-US" sz="63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Substitute Goods:</a:t>
            </a:r>
            <a:r>
              <a:rPr lang="en-US" sz="6300">
                <a:latin typeface="Cambria"/>
                <a:ea typeface="Cambria"/>
                <a:cs typeface="Cambria"/>
                <a:sym typeface="Cambria"/>
              </a:rPr>
              <a:t> Two goods are substitute goods if an increase in price of one good causes an increase in the demand for another good.</a:t>
            </a:r>
            <a:endParaRPr/>
          </a:p>
          <a:p>
            <a:pPr indent="-306029" lvl="0" marL="306000" rtl="0" algn="l">
              <a:lnSpc>
                <a:spcPct val="90000"/>
              </a:lnSpc>
              <a:spcBef>
                <a:spcPts val="1198"/>
              </a:spcBef>
              <a:spcAft>
                <a:spcPts val="0"/>
              </a:spcAft>
              <a:buSzPct val="91999"/>
              <a:buChar char="◼"/>
            </a:pPr>
            <a:r>
              <a:rPr lang="en-US" sz="63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Complementary Goods: </a:t>
            </a:r>
            <a:r>
              <a:rPr lang="en-US" sz="6300">
                <a:latin typeface="Cambria"/>
                <a:ea typeface="Cambria"/>
                <a:cs typeface="Cambria"/>
                <a:sym typeface="Cambria"/>
              </a:rPr>
              <a:t>Two goods are complementary goods if an increase in price of one good causes a decrease in the demand for another good.</a:t>
            </a:r>
            <a:endParaRPr/>
          </a:p>
          <a:p>
            <a:pPr indent="0" lvl="1" marL="324000" rtl="0" algn="l">
              <a:spcBef>
                <a:spcPts val="1417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70101" lvl="2" marL="900000" rtl="0" algn="l">
              <a:spcBef>
                <a:spcPts val="942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56050" lvl="0" marL="306000" rtl="0" algn="l">
              <a:spcBef>
                <a:spcPts val="771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PRICES OF RELATED GOODS</a:t>
            </a:r>
            <a:endParaRPr/>
          </a:p>
        </p:txBody>
      </p:sp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1071730" y="2221242"/>
            <a:ext cx="4724232" cy="14001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417" r="0" t="-15216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 </a:t>
            </a:r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4381496" y="2141596"/>
            <a:ext cx="123825" cy="45482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5026816" y="2141596"/>
            <a:ext cx="123825" cy="45482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6" name="Google Shape;156;p21"/>
          <p:cNvSpPr/>
          <p:nvPr/>
        </p:nvSpPr>
        <p:spPr>
          <a:xfrm flipH="1">
            <a:off x="5734049" y="2141596"/>
            <a:ext cx="123825" cy="45482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The graph represents the directions for step 3. An increased income results in an increase in demand, which is shown by a rightward shift in the demand curve." id="157" name="Google Shape;15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974" y="2716080"/>
            <a:ext cx="5313294" cy="325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/>
        </p:nvSpPr>
        <p:spPr>
          <a:xfrm>
            <a:off x="6581775" y="2221242"/>
            <a:ext cx="4819650" cy="355282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13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PRICES OF RELATED GOODS</a:t>
            </a:r>
            <a:endParaRPr/>
          </a:p>
        </p:txBody>
      </p:sp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1071730" y="2221242"/>
            <a:ext cx="4724232" cy="14001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73" r="0" t="-4782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 </a:t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4381496" y="2141596"/>
            <a:ext cx="123825" cy="45482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5026816" y="2141596"/>
            <a:ext cx="123825" cy="45482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6419855" y="2389973"/>
            <a:ext cx="4819650" cy="35528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1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5712621" y="2141596"/>
            <a:ext cx="145254" cy="45482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69" name="Google Shape;16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4394" y="2844527"/>
            <a:ext cx="4293481" cy="3617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7931D"/>
              </a:buClr>
              <a:buSzPts val="2800"/>
              <a:buFont typeface="Arial"/>
              <a:buNone/>
            </a:pPr>
            <a:r>
              <a:rPr b="0" i="0" lang="en-US">
                <a:solidFill>
                  <a:srgbClr val="F7931D"/>
                </a:solidFill>
                <a:latin typeface="Arial"/>
                <a:ea typeface="Arial"/>
                <a:cs typeface="Arial"/>
                <a:sym typeface="Arial"/>
              </a:rPr>
              <a:t>TASTES AND PREFERENCES</a:t>
            </a:r>
            <a:endParaRPr/>
          </a:p>
        </p:txBody>
      </p:sp>
      <p:sp>
        <p:nvSpPr>
          <p:cNvPr id="175" name="Google Shape;175;p23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-206101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5999" lvl="0" marL="306000" rtl="0" algn="l">
              <a:spcBef>
                <a:spcPts val="1436"/>
              </a:spcBef>
              <a:spcAft>
                <a:spcPts val="0"/>
              </a:spcAft>
              <a:buSzPct val="92000"/>
              <a:buChar char="◼"/>
            </a:pPr>
            <a:r>
              <a:rPr lang="en-US" sz="8800"/>
              <a:t>Demand curve can shifts due to changes in tastes over time.</a:t>
            </a:r>
            <a:endParaRPr/>
          </a:p>
          <a:p>
            <a:pPr indent="-67354" lvl="1" marL="630000" rtl="0" algn="l">
              <a:spcBef>
                <a:spcPts val="1417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70101" lvl="2" marL="900000" rtl="0" algn="l">
              <a:spcBef>
                <a:spcPts val="942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56050" lvl="0" marL="306000" rtl="0" algn="l">
              <a:spcBef>
                <a:spcPts val="771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176" name="Google Shape;176;p23"/>
          <p:cNvSpPr txBox="1"/>
          <p:nvPr/>
        </p:nvSpPr>
        <p:spPr>
          <a:xfrm>
            <a:off x="85725" y="5786512"/>
            <a:ext cx="54578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Favorable change in taste =&gt; higher demand</a:t>
            </a:r>
            <a:endParaRPr/>
          </a:p>
        </p:txBody>
      </p:sp>
      <p:sp>
        <p:nvSpPr>
          <p:cNvPr id="177" name="Google Shape;177;p23"/>
          <p:cNvSpPr txBox="1"/>
          <p:nvPr/>
        </p:nvSpPr>
        <p:spPr>
          <a:xfrm>
            <a:off x="5362407" y="5786512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Unfavorable change in taste =&gt; lower demand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78" name="Google Shape;1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179" name="Google Shape;17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3218744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428791" y="702156"/>
            <a:ext cx="11182017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mbria"/>
              <a:buNone/>
            </a:pPr>
            <a:r>
              <a:rPr b="1" lang="en-US" sz="2800">
                <a:latin typeface="Cambria"/>
                <a:ea typeface="Cambria"/>
                <a:cs typeface="Cambria"/>
                <a:sym typeface="Cambria"/>
              </a:rPr>
              <a:t>EXPECTATIONS ABOUT FUTURE PRICES AND MARKET CONDITIONS</a:t>
            </a:r>
            <a:endParaRPr/>
          </a:p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32500" lnSpcReduction="20000"/>
          </a:bodyPr>
          <a:lstStyle/>
          <a:p>
            <a:pPr indent="-237648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6000" lvl="0" marL="306000" rtl="0" algn="l">
              <a:spcBef>
                <a:spcPts val="1172"/>
              </a:spcBef>
              <a:spcAft>
                <a:spcPts val="0"/>
              </a:spcAft>
              <a:buSzPct val="92000"/>
              <a:buChar char="◼"/>
            </a:pPr>
            <a:r>
              <a:rPr lang="en-US" sz="8800"/>
              <a:t>Demand curve can shifts due to changes in expectations. </a:t>
            </a:r>
            <a:endParaRPr/>
          </a:p>
          <a:p>
            <a:pPr indent="-306000" lvl="0" marL="306000" rtl="0" algn="l">
              <a:spcBef>
                <a:spcPts val="1172"/>
              </a:spcBef>
              <a:spcAft>
                <a:spcPts val="0"/>
              </a:spcAft>
              <a:buSzPct val="92000"/>
              <a:buChar char="◼"/>
            </a:pPr>
            <a:r>
              <a:rPr b="0" i="0" lang="en-US" sz="88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For example, if you expect the price of computers to fall soon, you may put off buying one until later.</a:t>
            </a:r>
            <a:endParaRPr sz="8800"/>
          </a:p>
          <a:p>
            <a:pPr indent="-142716" lvl="1" marL="630000" rtl="0" algn="l">
              <a:spcBef>
                <a:spcPts val="1159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01648" lvl="2" marL="900000" rtl="0" algn="l">
              <a:spcBef>
                <a:spcPts val="834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71824" lvl="0" marL="306000" rtl="0" algn="l">
              <a:spcBef>
                <a:spcPts val="717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186" name="Google Shape;186;p24"/>
          <p:cNvSpPr txBox="1"/>
          <p:nvPr/>
        </p:nvSpPr>
        <p:spPr>
          <a:xfrm>
            <a:off x="85725" y="5786512"/>
            <a:ext cx="54578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Positive expectation=&gt; higher demand</a:t>
            </a:r>
            <a:endParaRPr/>
          </a:p>
        </p:txBody>
      </p:sp>
      <p:sp>
        <p:nvSpPr>
          <p:cNvPr id="187" name="Google Shape;187;p24"/>
          <p:cNvSpPr txBox="1"/>
          <p:nvPr/>
        </p:nvSpPr>
        <p:spPr>
          <a:xfrm>
            <a:off x="5362407" y="5786512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Negative expectation=&gt; lower demand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88" name="Google Shape;1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189" name="Google Shape;18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575" y="3429000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428791" y="702156"/>
            <a:ext cx="11182017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mbria"/>
              <a:buNone/>
            </a:pPr>
            <a:r>
              <a:rPr b="1" lang="en-US" sz="2800">
                <a:latin typeface="Cambria"/>
                <a:ea typeface="Cambria"/>
                <a:cs typeface="Cambria"/>
                <a:sym typeface="Cambria"/>
              </a:rPr>
              <a:t>POPULATION/ NO OF CONSUMERS</a:t>
            </a:r>
            <a:endParaRPr/>
          </a:p>
        </p:txBody>
      </p: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-206101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5999" lvl="0" marL="306000" rtl="0" algn="l">
              <a:spcBef>
                <a:spcPts val="1436"/>
              </a:spcBef>
              <a:spcAft>
                <a:spcPts val="0"/>
              </a:spcAft>
              <a:buSzPct val="92000"/>
              <a:buChar char="◼"/>
            </a:pPr>
            <a:r>
              <a:rPr lang="en-US" sz="8800"/>
              <a:t>Demand curve can shifts due to changes in population/ no of consumers. </a:t>
            </a:r>
            <a:endParaRPr/>
          </a:p>
          <a:p>
            <a:pPr indent="-67354" lvl="1" marL="630000" rtl="0" algn="l">
              <a:spcBef>
                <a:spcPts val="1417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70101" lvl="2" marL="900000" rtl="0" algn="l">
              <a:spcBef>
                <a:spcPts val="942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56050" lvl="0" marL="306000" rtl="0" algn="l">
              <a:spcBef>
                <a:spcPts val="771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196" name="Google Shape;196;p25"/>
          <p:cNvSpPr txBox="1"/>
          <p:nvPr/>
        </p:nvSpPr>
        <p:spPr>
          <a:xfrm>
            <a:off x="85725" y="5786512"/>
            <a:ext cx="54578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Increase in population/no of consumers  =&gt; higher demand</a:t>
            </a:r>
            <a:endParaRPr/>
          </a:p>
        </p:txBody>
      </p:sp>
      <p:sp>
        <p:nvSpPr>
          <p:cNvPr id="197" name="Google Shape;197;p25"/>
          <p:cNvSpPr txBox="1"/>
          <p:nvPr/>
        </p:nvSpPr>
        <p:spPr>
          <a:xfrm>
            <a:off x="5362407" y="5786512"/>
            <a:ext cx="609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decrease in population/no of consumers =&gt; lower demand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98" name="Google Shape;19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199" name="Google Shape;19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575" y="3429000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